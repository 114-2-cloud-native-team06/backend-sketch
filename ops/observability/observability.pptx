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charts/chart1.xml" ContentType="application/vnd.openxmlformats-officedocument.drawingml.chart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</p:sldIdLst>
  <p:notesMasterIdLst>
    <p:notesMasterId r:id="rId9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notesMaster" Target="notesMasters/notesMaster1.xml"/><Relationship Id="rId10" Type="http://schemas.openxmlformats.org/officeDocument/2006/relationships/presProps" Target="presProps.xml"/><Relationship Id="rId11" Type="http://schemas.openxmlformats.org/officeDocument/2006/relationships/viewProps" Target="viewProps.xml"/><Relationship Id="rId12" Type="http://schemas.openxmlformats.org/officeDocument/2006/relationships/theme" Target="theme/theme1.xml"/><Relationship Id="rId13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DB queries/sec</c:v>
                </c:pt>
              </c:strCache>
            </c:strRef>
          </c:tx>
          <c:spPr>
            <a:solidFill>
              <a:srgbClr val="38BDF8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1E2A4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message-writer</c:v>
                  </c:pt>
                  <c:pt idx="1">
                    <c:v>realtime</c:v>
                  </c:pt>
                  <c:pt idx="2">
                    <c:v>chat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117</c:v>
                </c:pt>
                <c:pt idx="1">
                  <c:v>4.18</c:v>
                </c:pt>
                <c:pt idx="2">
                  <c:v>0.02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100" u="none">
                  <a:solidFill>
                    <a:srgbClr val="1E2A40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44546D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D7E0EE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6E7C93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6F8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10896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E9BD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114-2 CLOUD NATIVE · TEAM06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03504" y="530352"/>
            <a:ext cx="100584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E2A4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可觀測性系統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640080" y="1115568"/>
            <a:ext cx="109728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44546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IM 微服務後端 · OpenTelemetry → Grafana Cloud · Instrument → Collect → Visualize</a:t>
            </a:r>
            <a:endParaRPr lang="en-US" sz="1400" dirty="0"/>
          </a:p>
        </p:txBody>
      </p:sp>
      <p:pic>
        <p:nvPicPr>
          <p:cNvPr id="5" name="Image 0" descr="C:/dev/IM_BE/backend-sketch/ops/observability/architectur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90956" y="1627632"/>
            <a:ext cx="10607040" cy="5785658"/>
          </a:xfrm>
          <a:prstGeom prst="rect">
            <a:avLst/>
          </a:prstGeom>
          <a:effectLst>
            <a:outerShdw sx="100000" sy="100000" kx="0" ky="0" algn="bl" rotWithShape="0" blurRad="88900" dist="25400" dir="5400000">
              <a:srgbClr val="8895AC">
                <a:alpha val="28000"/>
              </a:srgbClr>
            </a:outerShdw>
          </a:effectLst>
        </p:spPr>
      </p:pic>
      <p:sp>
        <p:nvSpPr>
          <p:cNvPr id="6" name="Shape 3"/>
          <p:cNvSpPr/>
          <p:nvPr/>
        </p:nvSpPr>
        <p:spPr>
          <a:xfrm>
            <a:off x="548640" y="6437376"/>
            <a:ext cx="11091672" cy="0"/>
          </a:xfrm>
          <a:prstGeom prst="line">
            <a:avLst/>
          </a:prstGeom>
          <a:noFill/>
          <a:ln w="12700">
            <a:solidFill>
              <a:srgbClr val="D7E0EE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548640" y="6464808"/>
            <a:ext cx="8686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E7C9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可觀測性 · IM 微服務後端 · 114-2 Cloud Native TEAM06</a:t>
            </a:r>
            <a:endParaRPr lang="en-US" sz="900" dirty="0"/>
          </a:p>
        </p:txBody>
      </p:sp>
      <p:sp>
        <p:nvSpPr>
          <p:cNvPr id="8" name="Text 5"/>
          <p:cNvSpPr/>
          <p:nvPr/>
        </p:nvSpPr>
        <p:spPr>
          <a:xfrm>
            <a:off x="11247120" y="6464808"/>
            <a:ext cx="3931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7C9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6F8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0E9BD6"/>
          </a:solidFill>
          <a:ln/>
        </p:spPr>
      </p:sp>
      <p:sp>
        <p:nvSpPr>
          <p:cNvPr id="3" name="Shape 1"/>
          <p:cNvSpPr/>
          <p:nvPr/>
        </p:nvSpPr>
        <p:spPr>
          <a:xfrm>
            <a:off x="548640" y="457200"/>
            <a:ext cx="548640" cy="548640"/>
          </a:xfrm>
          <a:prstGeom prst="ellipse">
            <a:avLst/>
          </a:prstGeom>
          <a:solidFill>
            <a:srgbClr val="0E9BD6"/>
          </a:solidFill>
          <a:ln/>
          <a:effectLst>
            <a:outerShdw sx="100000" sy="100000" kx="0" ky="0" algn="bl" rotWithShape="0" blurRad="88900" dist="25400" dir="5400000">
              <a:srgbClr val="8895AC">
                <a:alpha val="28000"/>
              </a:srgbClr>
            </a:outerShdw>
          </a:effectLst>
        </p:spPr>
      </p:sp>
      <p:sp>
        <p:nvSpPr>
          <p:cNvPr id="4" name="Text 2"/>
          <p:cNvSpPr/>
          <p:nvPr/>
        </p:nvSpPr>
        <p:spPr>
          <a:xfrm>
            <a:off x="548640" y="45720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1261872" y="420624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b="1" spc="300" kern="0" dirty="0">
                <a:solidFill>
                  <a:srgbClr val="0E9BD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INSTRUMENT　埋點</a:t>
            </a:r>
            <a:endParaRPr lang="en-US" sz="1250" dirty="0"/>
          </a:p>
        </p:txBody>
      </p:sp>
      <p:sp>
        <p:nvSpPr>
          <p:cNvPr id="6" name="Text 4"/>
          <p:cNvSpPr/>
          <p:nvPr/>
        </p:nvSpPr>
        <p:spPr>
          <a:xfrm>
            <a:off x="1243584" y="630936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900" b="1" dirty="0">
                <a:solidFill>
                  <a:srgbClr val="1E2A4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OpenTelemetry SDK · 自動 + 手動埋點</a:t>
            </a:r>
            <a:endParaRPr lang="en-US" sz="2900" dirty="0"/>
          </a:p>
        </p:txBody>
      </p:sp>
      <p:sp>
        <p:nvSpPr>
          <p:cNvPr id="7" name="Text 5"/>
          <p:cNvSpPr/>
          <p:nvPr/>
        </p:nvSpPr>
        <p:spPr>
          <a:xfrm>
            <a:off x="1243584" y="1225296"/>
            <a:ext cx="10424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44546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一份共用 instrumentation,用 node --import 預載進「每個」服務 —— 業務程式碼幾乎不用改。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548640" y="1700784"/>
            <a:ext cx="5532120" cy="1517904"/>
          </a:xfrm>
          <a:prstGeom prst="roundRect">
            <a:avLst>
              <a:gd name="adj" fmla="val 5422"/>
            </a:avLst>
          </a:prstGeom>
          <a:solidFill>
            <a:srgbClr val="FFFFFF"/>
          </a:solidFill>
          <a:ln w="12700">
            <a:solidFill>
              <a:srgbClr val="D7E0EE"/>
            </a:solidFill>
            <a:prstDash val="solid"/>
          </a:ln>
          <a:effectLst>
            <a:outerShdw sx="100000" sy="100000" kx="0" ky="0" algn="bl" rotWithShape="0" blurRad="88900" dist="25400" dir="5400000">
              <a:srgbClr val="8895AC">
                <a:alpha val="28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777240" y="1920240"/>
            <a:ext cx="146304" cy="146304"/>
          </a:xfrm>
          <a:prstGeom prst="ellipse">
            <a:avLst/>
          </a:prstGeom>
          <a:solidFill>
            <a:srgbClr val="0E9BD6"/>
          </a:solidFill>
          <a:ln/>
        </p:spPr>
      </p:sp>
      <p:sp>
        <p:nvSpPr>
          <p:cNvPr id="10" name="Text 8"/>
          <p:cNvSpPr/>
          <p:nvPr/>
        </p:nvSpPr>
        <p:spPr>
          <a:xfrm>
            <a:off x="1014984" y="1828800"/>
            <a:ext cx="48828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E2A4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自動埋點　Auto-instrumentation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868680" y="2249424"/>
            <a:ext cx="50292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44546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HTTP server / client — 每個請求自動產生 span + http 指標</a:t>
            </a:r>
            <a:endParaRPr lang="en-US" sz="12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44546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Node runtime — event loop 延遲、GC、heap 記憶體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548640" y="3346704"/>
            <a:ext cx="5532120" cy="2798064"/>
          </a:xfrm>
          <a:prstGeom prst="roundRect">
            <a:avLst>
              <a:gd name="adj" fmla="val 2941"/>
            </a:avLst>
          </a:prstGeom>
          <a:solidFill>
            <a:srgbClr val="FFFFFF"/>
          </a:solidFill>
          <a:ln w="12700">
            <a:solidFill>
              <a:srgbClr val="D7E0EE"/>
            </a:solidFill>
            <a:prstDash val="solid"/>
          </a:ln>
          <a:effectLst>
            <a:outerShdw sx="100000" sy="100000" kx="0" ky="0" algn="bl" rotWithShape="0" blurRad="88900" dist="25400" dir="5400000">
              <a:srgbClr val="8895AC">
                <a:alpha val="28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777240" y="3566160"/>
            <a:ext cx="146304" cy="146304"/>
          </a:xfrm>
          <a:prstGeom prst="ellipse">
            <a:avLst/>
          </a:prstGeom>
          <a:solidFill>
            <a:srgbClr val="0E9BD6"/>
          </a:solidFill>
          <a:ln/>
        </p:spPr>
      </p:sp>
      <p:sp>
        <p:nvSpPr>
          <p:cNvPr id="14" name="Text 12"/>
          <p:cNvSpPr/>
          <p:nvPr/>
        </p:nvSpPr>
        <p:spPr>
          <a:xfrm>
            <a:off x="1014984" y="3474720"/>
            <a:ext cx="48828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E2A4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手動埋點　自訂業務指標</a:t>
            </a:r>
            <a:endParaRPr lang="en-US" sz="1500" dirty="0"/>
          </a:p>
        </p:txBody>
      </p:sp>
      <p:sp>
        <p:nvSpPr>
          <p:cNvPr id="15" name="Shape 13"/>
          <p:cNvSpPr/>
          <p:nvPr/>
        </p:nvSpPr>
        <p:spPr>
          <a:xfrm>
            <a:off x="868680" y="3995928"/>
            <a:ext cx="109728" cy="109728"/>
          </a:xfrm>
          <a:prstGeom prst="ellipse">
            <a:avLst/>
          </a:prstGeom>
          <a:solidFill>
            <a:srgbClr val="2F6FC0"/>
          </a:solidFill>
          <a:ln/>
        </p:spPr>
      </p:sp>
      <p:sp>
        <p:nvSpPr>
          <p:cNvPr id="16" name="Text 14"/>
          <p:cNvSpPr/>
          <p:nvPr/>
        </p:nvSpPr>
        <p:spPr>
          <a:xfrm>
            <a:off x="1051560" y="3931920"/>
            <a:ext cx="49377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E2A4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im_db_query_duration_ms  </a:t>
            </a:r>
            <a:pPr algn="l" indent="0" marL="0">
              <a:buNone/>
            </a:pPr>
            <a:r>
              <a:rPr lang="en-US" sz="1150" dirty="0">
                <a:solidFill>
                  <a:srgbClr val="6E7C9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Histogram · 每筆 DB 查詢耗時</a:t>
            </a:r>
            <a:endParaRPr lang="en-US" sz="1150" dirty="0"/>
          </a:p>
        </p:txBody>
      </p:sp>
      <p:sp>
        <p:nvSpPr>
          <p:cNvPr id="17" name="Shape 15"/>
          <p:cNvSpPr/>
          <p:nvPr/>
        </p:nvSpPr>
        <p:spPr>
          <a:xfrm>
            <a:off x="868680" y="4416552"/>
            <a:ext cx="109728" cy="109728"/>
          </a:xfrm>
          <a:prstGeom prst="ellipse">
            <a:avLst/>
          </a:prstGeom>
          <a:solidFill>
            <a:srgbClr val="2E9460"/>
          </a:solidFill>
          <a:ln/>
        </p:spPr>
      </p:sp>
      <p:sp>
        <p:nvSpPr>
          <p:cNvPr id="18" name="Text 16"/>
          <p:cNvSpPr/>
          <p:nvPr/>
        </p:nvSpPr>
        <p:spPr>
          <a:xfrm>
            <a:off x="1051560" y="4352544"/>
            <a:ext cx="49377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E2A4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im_messages_sent_total  </a:t>
            </a:r>
            <a:pPr algn="l" indent="0" marL="0">
              <a:buNone/>
            </a:pPr>
            <a:r>
              <a:rPr lang="en-US" sz="1150" dirty="0">
                <a:solidFill>
                  <a:srgbClr val="6E7C9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Counter · 成功送出訊息數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868680" y="4837176"/>
            <a:ext cx="109728" cy="109728"/>
          </a:xfrm>
          <a:prstGeom prst="ellipse">
            <a:avLst/>
          </a:prstGeom>
          <a:solidFill>
            <a:srgbClr val="0E9BD6"/>
          </a:solidFill>
          <a:ln/>
        </p:spPr>
      </p:sp>
      <p:sp>
        <p:nvSpPr>
          <p:cNvPr id="20" name="Text 18"/>
          <p:cNvSpPr/>
          <p:nvPr/>
        </p:nvSpPr>
        <p:spPr>
          <a:xfrm>
            <a:off x="1051560" y="4773168"/>
            <a:ext cx="49377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E2A4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im_ws_active_connections  </a:t>
            </a:r>
            <a:pPr algn="l" indent="0" marL="0">
              <a:buNone/>
            </a:pPr>
            <a:r>
              <a:rPr lang="en-US" sz="1150" dirty="0">
                <a:solidFill>
                  <a:srgbClr val="6E7C9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Gauge · 當前 WebSocket 連線數</a:t>
            </a:r>
            <a:endParaRPr lang="en-US" sz="1150" dirty="0"/>
          </a:p>
        </p:txBody>
      </p:sp>
      <p:sp>
        <p:nvSpPr>
          <p:cNvPr id="21" name="Shape 19"/>
          <p:cNvSpPr/>
          <p:nvPr/>
        </p:nvSpPr>
        <p:spPr>
          <a:xfrm>
            <a:off x="868680" y="5257800"/>
            <a:ext cx="109728" cy="109728"/>
          </a:xfrm>
          <a:prstGeom prst="ellipse">
            <a:avLst/>
          </a:prstGeom>
          <a:solidFill>
            <a:srgbClr val="D9791C"/>
          </a:solidFill>
          <a:ln/>
        </p:spPr>
      </p:sp>
      <p:sp>
        <p:nvSpPr>
          <p:cNvPr id="22" name="Text 20"/>
          <p:cNvSpPr/>
          <p:nvPr/>
        </p:nvSpPr>
        <p:spPr>
          <a:xfrm>
            <a:off x="1051560" y="5193792"/>
            <a:ext cx="49377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E2A4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im_message_fanout_duration_ms  </a:t>
            </a:r>
            <a:pPr algn="l" indent="0" marL="0">
              <a:buNone/>
            </a:pPr>
            <a:r>
              <a:rPr lang="en-US" sz="1150" dirty="0">
                <a:solidFill>
                  <a:srgbClr val="6E7C9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Histogram · 訊息廣播到房間成員耗時</a:t>
            </a:r>
            <a:endParaRPr lang="en-US" sz="1150" dirty="0"/>
          </a:p>
        </p:txBody>
      </p:sp>
      <p:sp>
        <p:nvSpPr>
          <p:cNvPr id="23" name="Shape 21"/>
          <p:cNvSpPr/>
          <p:nvPr/>
        </p:nvSpPr>
        <p:spPr>
          <a:xfrm>
            <a:off x="868680" y="5678424"/>
            <a:ext cx="109728" cy="109728"/>
          </a:xfrm>
          <a:prstGeom prst="ellipse">
            <a:avLst/>
          </a:prstGeom>
          <a:solidFill>
            <a:srgbClr val="8348B8"/>
          </a:solidFill>
          <a:ln/>
        </p:spPr>
      </p:sp>
      <p:sp>
        <p:nvSpPr>
          <p:cNvPr id="24" name="Text 22"/>
          <p:cNvSpPr/>
          <p:nvPr/>
        </p:nvSpPr>
        <p:spPr>
          <a:xfrm>
            <a:off x="1051560" y="5614416"/>
            <a:ext cx="49377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E2A4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im_ws_errors_total  </a:t>
            </a:r>
            <a:pPr algn="l" indent="0" marL="0">
              <a:buNone/>
            </a:pPr>
            <a:r>
              <a:rPr lang="en-US" sz="1150" dirty="0">
                <a:solidFill>
                  <a:srgbClr val="6E7C9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Counter · WS 錯誤數(依原因)</a:t>
            </a:r>
            <a:endParaRPr lang="en-US" sz="1150" dirty="0"/>
          </a:p>
        </p:txBody>
      </p:sp>
      <p:sp>
        <p:nvSpPr>
          <p:cNvPr id="25" name="Shape 23"/>
          <p:cNvSpPr/>
          <p:nvPr/>
        </p:nvSpPr>
        <p:spPr>
          <a:xfrm>
            <a:off x="6263640" y="1700784"/>
            <a:ext cx="5376672" cy="1993392"/>
          </a:xfrm>
          <a:prstGeom prst="roundRect">
            <a:avLst>
              <a:gd name="adj" fmla="val 4128"/>
            </a:avLst>
          </a:prstGeom>
          <a:solidFill>
            <a:srgbClr val="FFFFFF"/>
          </a:solidFill>
          <a:ln w="12700">
            <a:solidFill>
              <a:srgbClr val="D7E0EE"/>
            </a:solidFill>
            <a:prstDash val="solid"/>
          </a:ln>
          <a:effectLst>
            <a:outerShdw sx="100000" sy="100000" kx="0" ky="0" algn="bl" rotWithShape="0" blurRad="88900" dist="25400" dir="5400000">
              <a:srgbClr val="8895AC">
                <a:alpha val="28000"/>
              </a:srgbClr>
            </a:outerShdw>
          </a:effectLst>
        </p:spPr>
      </p:sp>
      <p:sp>
        <p:nvSpPr>
          <p:cNvPr id="26" name="Shape 24"/>
          <p:cNvSpPr/>
          <p:nvPr/>
        </p:nvSpPr>
        <p:spPr>
          <a:xfrm>
            <a:off x="6492240" y="1920240"/>
            <a:ext cx="146304" cy="146304"/>
          </a:xfrm>
          <a:prstGeom prst="ellipse">
            <a:avLst/>
          </a:prstGeom>
          <a:solidFill>
            <a:srgbClr val="0E9BD6"/>
          </a:solidFill>
          <a:ln/>
        </p:spPr>
      </p:sp>
      <p:sp>
        <p:nvSpPr>
          <p:cNvPr id="27" name="Text 25"/>
          <p:cNvSpPr/>
          <p:nvPr/>
        </p:nvSpPr>
        <p:spPr>
          <a:xfrm>
            <a:off x="6729984" y="1828800"/>
            <a:ext cx="47000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E2A4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四訊號　Four Signals</a:t>
            </a:r>
            <a:endParaRPr lang="en-US" sz="1500" dirty="0"/>
          </a:p>
        </p:txBody>
      </p:sp>
      <p:sp>
        <p:nvSpPr>
          <p:cNvPr id="28" name="Shape 26"/>
          <p:cNvSpPr/>
          <p:nvPr/>
        </p:nvSpPr>
        <p:spPr>
          <a:xfrm>
            <a:off x="6492240" y="2286000"/>
            <a:ext cx="2395728" cy="548640"/>
          </a:xfrm>
          <a:prstGeom prst="roundRect">
            <a:avLst>
              <a:gd name="adj" fmla="val 10000"/>
            </a:avLst>
          </a:prstGeom>
          <a:solidFill>
            <a:srgbClr val="EDF3FB"/>
          </a:solidFill>
          <a:ln w="19050">
            <a:solidFill>
              <a:srgbClr val="D9791C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638544" y="2286000"/>
            <a:ext cx="2194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D9791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Traces  </a:t>
            </a:r>
            <a:pPr indent="0" marL="0">
              <a:buNone/>
            </a:pPr>
            <a:r>
              <a:rPr lang="en-US" sz="1150" dirty="0">
                <a:solidFill>
                  <a:srgbClr val="44546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Tempo · 跨服務追蹤</a:t>
            </a:r>
            <a:endParaRPr lang="en-US" sz="1150" dirty="0"/>
          </a:p>
        </p:txBody>
      </p:sp>
      <p:sp>
        <p:nvSpPr>
          <p:cNvPr id="30" name="Shape 28"/>
          <p:cNvSpPr/>
          <p:nvPr/>
        </p:nvSpPr>
        <p:spPr>
          <a:xfrm>
            <a:off x="9070848" y="2286000"/>
            <a:ext cx="2395728" cy="548640"/>
          </a:xfrm>
          <a:prstGeom prst="roundRect">
            <a:avLst>
              <a:gd name="adj" fmla="val 10000"/>
            </a:avLst>
          </a:prstGeom>
          <a:solidFill>
            <a:srgbClr val="EDF3FB"/>
          </a:solidFill>
          <a:ln w="19050">
            <a:solidFill>
              <a:srgbClr val="2F6FC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9217152" y="2286000"/>
            <a:ext cx="2194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F6FC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Metrics  </a:t>
            </a:r>
            <a:pPr indent="0" marL="0">
              <a:buNone/>
            </a:pPr>
            <a:r>
              <a:rPr lang="en-US" sz="1150" dirty="0">
                <a:solidFill>
                  <a:srgbClr val="44546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Mimir · 指標</a:t>
            </a:r>
            <a:endParaRPr lang="en-US" sz="1150" dirty="0"/>
          </a:p>
        </p:txBody>
      </p:sp>
      <p:sp>
        <p:nvSpPr>
          <p:cNvPr id="32" name="Shape 30"/>
          <p:cNvSpPr/>
          <p:nvPr/>
        </p:nvSpPr>
        <p:spPr>
          <a:xfrm>
            <a:off x="6492240" y="2962656"/>
            <a:ext cx="2395728" cy="548640"/>
          </a:xfrm>
          <a:prstGeom prst="roundRect">
            <a:avLst>
              <a:gd name="adj" fmla="val 10000"/>
            </a:avLst>
          </a:prstGeom>
          <a:solidFill>
            <a:srgbClr val="EDF3FB"/>
          </a:solidFill>
          <a:ln w="19050">
            <a:solidFill>
              <a:srgbClr val="2E946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6638544" y="2962656"/>
            <a:ext cx="2194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E946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Logs  </a:t>
            </a:r>
            <a:pPr indent="0" marL="0">
              <a:buNone/>
            </a:pPr>
            <a:r>
              <a:rPr lang="en-US" sz="1150" dirty="0">
                <a:solidFill>
                  <a:srgbClr val="44546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Loki · 帶 trace_id</a:t>
            </a:r>
            <a:endParaRPr lang="en-US" sz="1150" dirty="0"/>
          </a:p>
        </p:txBody>
      </p:sp>
      <p:sp>
        <p:nvSpPr>
          <p:cNvPr id="34" name="Shape 32"/>
          <p:cNvSpPr/>
          <p:nvPr/>
        </p:nvSpPr>
        <p:spPr>
          <a:xfrm>
            <a:off x="9070848" y="2962656"/>
            <a:ext cx="2395728" cy="548640"/>
          </a:xfrm>
          <a:prstGeom prst="roundRect">
            <a:avLst>
              <a:gd name="adj" fmla="val 10000"/>
            </a:avLst>
          </a:prstGeom>
          <a:solidFill>
            <a:srgbClr val="EDF3FB"/>
          </a:solidFill>
          <a:ln w="19050">
            <a:solidFill>
              <a:srgbClr val="8348B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9217152" y="2962656"/>
            <a:ext cx="2194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8348B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Profiles  </a:t>
            </a:r>
            <a:pPr indent="0" marL="0">
              <a:buNone/>
            </a:pPr>
            <a:r>
              <a:rPr lang="en-US" sz="1150" dirty="0">
                <a:solidFill>
                  <a:srgbClr val="44546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Pyroscope · wall 剖析</a:t>
            </a:r>
            <a:endParaRPr lang="en-US" sz="1150" dirty="0"/>
          </a:p>
        </p:txBody>
      </p:sp>
      <p:sp>
        <p:nvSpPr>
          <p:cNvPr id="36" name="Shape 34"/>
          <p:cNvSpPr/>
          <p:nvPr/>
        </p:nvSpPr>
        <p:spPr>
          <a:xfrm>
            <a:off x="6263640" y="3840480"/>
            <a:ext cx="5376672" cy="2304288"/>
          </a:xfrm>
          <a:prstGeom prst="roundRect">
            <a:avLst>
              <a:gd name="adj" fmla="val 3571"/>
            </a:avLst>
          </a:prstGeom>
          <a:solidFill>
            <a:srgbClr val="FFFFFF"/>
          </a:solidFill>
          <a:ln w="12700">
            <a:solidFill>
              <a:srgbClr val="D7E0EE"/>
            </a:solidFill>
            <a:prstDash val="solid"/>
          </a:ln>
          <a:effectLst>
            <a:outerShdw sx="100000" sy="100000" kx="0" ky="0" algn="bl" rotWithShape="0" blurRad="88900" dist="25400" dir="5400000">
              <a:srgbClr val="8895AC">
                <a:alpha val="28000"/>
              </a:srgbClr>
            </a:outerShdw>
          </a:effectLst>
        </p:spPr>
      </p:sp>
      <p:sp>
        <p:nvSpPr>
          <p:cNvPr id="37" name="Shape 35"/>
          <p:cNvSpPr/>
          <p:nvPr/>
        </p:nvSpPr>
        <p:spPr>
          <a:xfrm>
            <a:off x="6492240" y="4059936"/>
            <a:ext cx="146304" cy="146304"/>
          </a:xfrm>
          <a:prstGeom prst="ellipse">
            <a:avLst/>
          </a:prstGeom>
          <a:solidFill>
            <a:srgbClr val="0E9BD6"/>
          </a:solidFill>
          <a:ln/>
        </p:spPr>
      </p:sp>
      <p:sp>
        <p:nvSpPr>
          <p:cNvPr id="38" name="Text 36"/>
          <p:cNvSpPr/>
          <p:nvPr/>
        </p:nvSpPr>
        <p:spPr>
          <a:xfrm>
            <a:off x="6729984" y="3968496"/>
            <a:ext cx="47000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E2A4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工程亮點</a:t>
            </a:r>
            <a:endParaRPr lang="en-US" sz="1500" dirty="0"/>
          </a:p>
        </p:txBody>
      </p:sp>
      <p:sp>
        <p:nvSpPr>
          <p:cNvPr id="39" name="Text 37"/>
          <p:cNvSpPr/>
          <p:nvPr/>
        </p:nvSpPr>
        <p:spPr>
          <a:xfrm>
            <a:off x="6583680" y="4425696"/>
            <a:ext cx="493776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44546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分服務標籤 — 每服務 OTEL_SERVICE_NAME,可在 dashboard 分服務下鑽</a:t>
            </a:r>
            <a:endParaRPr lang="en-US" sz="12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44546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安全 — 自訂 SpanProcessor 在送出前把 JWT token 脫敏</a:t>
            </a:r>
            <a:endParaRPr lang="en-US" sz="12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44546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可一鍵關閉 — OBSERVABILITY_ENABLED 總開關,關閉零負擔</a:t>
            </a:r>
            <a:endParaRPr lang="en-US" sz="1250" dirty="0"/>
          </a:p>
        </p:txBody>
      </p:sp>
      <p:sp>
        <p:nvSpPr>
          <p:cNvPr id="40" name="Shape 38"/>
          <p:cNvSpPr/>
          <p:nvPr/>
        </p:nvSpPr>
        <p:spPr>
          <a:xfrm>
            <a:off x="548640" y="6437376"/>
            <a:ext cx="11091672" cy="0"/>
          </a:xfrm>
          <a:prstGeom prst="line">
            <a:avLst/>
          </a:prstGeom>
          <a:noFill/>
          <a:ln w="12700">
            <a:solidFill>
              <a:srgbClr val="D7E0EE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548640" y="6464808"/>
            <a:ext cx="8686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E7C9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可觀測性 · IM 微服務後端 · 114-2 Cloud Native TEAM06</a:t>
            </a:r>
            <a:endParaRPr lang="en-US" sz="900" dirty="0"/>
          </a:p>
        </p:txBody>
      </p:sp>
      <p:sp>
        <p:nvSpPr>
          <p:cNvPr id="42" name="Text 40"/>
          <p:cNvSpPr/>
          <p:nvPr/>
        </p:nvSpPr>
        <p:spPr>
          <a:xfrm>
            <a:off x="11247120" y="6464808"/>
            <a:ext cx="3931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7C9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2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6F8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2E9460"/>
          </a:solidFill>
          <a:ln/>
        </p:spPr>
      </p:sp>
      <p:sp>
        <p:nvSpPr>
          <p:cNvPr id="3" name="Shape 1"/>
          <p:cNvSpPr/>
          <p:nvPr/>
        </p:nvSpPr>
        <p:spPr>
          <a:xfrm>
            <a:off x="548640" y="457200"/>
            <a:ext cx="548640" cy="548640"/>
          </a:xfrm>
          <a:prstGeom prst="ellipse">
            <a:avLst/>
          </a:prstGeom>
          <a:solidFill>
            <a:srgbClr val="2E9460"/>
          </a:solidFill>
          <a:ln/>
          <a:effectLst>
            <a:outerShdw sx="100000" sy="100000" kx="0" ky="0" algn="bl" rotWithShape="0" blurRad="88900" dist="25400" dir="5400000">
              <a:srgbClr val="8895AC">
                <a:alpha val="28000"/>
              </a:srgbClr>
            </a:outerShdw>
          </a:effectLst>
        </p:spPr>
      </p:sp>
      <p:sp>
        <p:nvSpPr>
          <p:cNvPr id="4" name="Text 2"/>
          <p:cNvSpPr/>
          <p:nvPr/>
        </p:nvSpPr>
        <p:spPr>
          <a:xfrm>
            <a:off x="548640" y="45720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2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1261872" y="420624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b="1" spc="300" kern="0" dirty="0">
                <a:solidFill>
                  <a:srgbClr val="2E946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COLLECT　收集</a:t>
            </a:r>
            <a:endParaRPr lang="en-US" sz="1250" dirty="0"/>
          </a:p>
        </p:txBody>
      </p:sp>
      <p:sp>
        <p:nvSpPr>
          <p:cNvPr id="6" name="Text 4"/>
          <p:cNvSpPr/>
          <p:nvPr/>
        </p:nvSpPr>
        <p:spPr>
          <a:xfrm>
            <a:off x="1243584" y="630936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900" b="1" dirty="0">
                <a:solidFill>
                  <a:srgbClr val="1E2A4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Direct 模式 — SDK 直送,免自架 Collector</a:t>
            </a:r>
            <a:endParaRPr lang="en-US" sz="2900" dirty="0"/>
          </a:p>
        </p:txBody>
      </p:sp>
      <p:sp>
        <p:nvSpPr>
          <p:cNvPr id="7" name="Shape 5"/>
          <p:cNvSpPr/>
          <p:nvPr/>
        </p:nvSpPr>
        <p:spPr>
          <a:xfrm>
            <a:off x="777240" y="1417320"/>
            <a:ext cx="2743200" cy="841248"/>
          </a:xfrm>
          <a:prstGeom prst="roundRect">
            <a:avLst>
              <a:gd name="adj" fmla="val 8696"/>
            </a:avLst>
          </a:prstGeom>
          <a:solidFill>
            <a:srgbClr val="FFFFFF"/>
          </a:solidFill>
          <a:ln w="12700">
            <a:solidFill>
              <a:srgbClr val="D7E0EE"/>
            </a:solidFill>
            <a:prstDash val="solid"/>
          </a:ln>
          <a:effectLst>
            <a:outerShdw sx="100000" sy="100000" kx="0" ky="0" algn="bl" rotWithShape="0" blurRad="88900" dist="25400" dir="5400000">
              <a:srgbClr val="8895AC">
                <a:alpha val="28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868680" y="1417320"/>
            <a:ext cx="256032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E2A4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5 個微服務</a:t>
            </a:r>
            <a:endParaRPr lang="en-US" sz="1400" dirty="0"/>
          </a:p>
          <a:p>
            <a:pPr algn="ctr" indent="0" marL="0">
              <a:buNone/>
            </a:pPr>
            <a:r>
              <a:rPr lang="en-US" sz="1050" dirty="0">
                <a:solidFill>
                  <a:srgbClr val="6E7C9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OTel SDK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4572000" y="1417320"/>
            <a:ext cx="3108960" cy="841248"/>
          </a:xfrm>
          <a:prstGeom prst="roundRect">
            <a:avLst>
              <a:gd name="adj" fmla="val 8696"/>
            </a:avLst>
          </a:prstGeom>
          <a:solidFill>
            <a:srgbClr val="2E9460"/>
          </a:solidFill>
          <a:ln w="12700">
            <a:solidFill>
              <a:srgbClr val="D7E0EE"/>
            </a:solidFill>
            <a:prstDash val="solid"/>
          </a:ln>
          <a:effectLst>
            <a:outerShdw sx="100000" sy="100000" kx="0" ky="0" algn="bl" rotWithShape="0" blurRad="88900" dist="25400" dir="5400000">
              <a:srgbClr val="8895AC">
                <a:alpha val="28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4663440" y="1417320"/>
            <a:ext cx="292608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Grafana Cloud</a:t>
            </a:r>
            <a:endParaRPr lang="en-US" sz="1400" dirty="0"/>
          </a:p>
          <a:p>
            <a:pPr algn="ctr" indent="0" marL="0">
              <a:buNone/>
            </a:pPr>
            <a:r>
              <a:rPr lang="en-US" sz="1050" dirty="0">
                <a:solidFill>
                  <a:srgbClr val="F6F8F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OTLP Gateway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3520440" y="1371600"/>
            <a:ext cx="10515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E9BD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OTLP / HTTP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0E9BD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(protobuf)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3566160" y="1837944"/>
            <a:ext cx="960120" cy="0"/>
          </a:xfrm>
          <a:prstGeom prst="line">
            <a:avLst/>
          </a:prstGeom>
          <a:noFill/>
          <a:ln w="25400">
            <a:solidFill>
              <a:srgbClr val="0E9BD6"/>
            </a:solidFill>
            <a:prstDash val="solid"/>
            <a:tailEnd type="triangle"/>
          </a:ln>
        </p:spPr>
      </p:sp>
      <p:sp>
        <p:nvSpPr>
          <p:cNvPr id="13" name="Text 11"/>
          <p:cNvSpPr/>
          <p:nvPr/>
        </p:nvSpPr>
        <p:spPr>
          <a:xfrm>
            <a:off x="7955280" y="1417320"/>
            <a:ext cx="3657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4546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Grafana 託管,扮演 Collector 角色 — 我們不自己跑 Collector。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548640" y="2651760"/>
            <a:ext cx="5349240" cy="3383280"/>
          </a:xfrm>
          <a:prstGeom prst="roundRect">
            <a:avLst>
              <a:gd name="adj" fmla="val 2432"/>
            </a:avLst>
          </a:prstGeom>
          <a:solidFill>
            <a:srgbClr val="FFFFFF"/>
          </a:solidFill>
          <a:ln w="12700">
            <a:solidFill>
              <a:srgbClr val="D7E0EE"/>
            </a:solidFill>
            <a:prstDash val="solid"/>
          </a:ln>
          <a:effectLst>
            <a:outerShdw sx="100000" sy="100000" kx="0" ky="0" algn="bl" rotWithShape="0" blurRad="88900" dist="25400" dir="5400000">
              <a:srgbClr val="8895AC">
                <a:alpha val="28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777240" y="2871216"/>
            <a:ext cx="146304" cy="146304"/>
          </a:xfrm>
          <a:prstGeom prst="ellipse">
            <a:avLst/>
          </a:prstGeom>
          <a:solidFill>
            <a:srgbClr val="2E9460"/>
          </a:solidFill>
          <a:ln/>
        </p:spPr>
      </p:sp>
      <p:sp>
        <p:nvSpPr>
          <p:cNvPr id="16" name="Text 14"/>
          <p:cNvSpPr/>
          <p:nvPr/>
        </p:nvSpPr>
        <p:spPr>
          <a:xfrm>
            <a:off x="1014984" y="2779776"/>
            <a:ext cx="47000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E2A4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傳輸設定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868680" y="3291840"/>
            <a:ext cx="1188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E9BD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協定</a:t>
            </a:r>
            <a:endParaRPr lang="en-US" sz="1250" dirty="0"/>
          </a:p>
        </p:txBody>
      </p:sp>
      <p:sp>
        <p:nvSpPr>
          <p:cNvPr id="18" name="Text 16"/>
          <p:cNvSpPr/>
          <p:nvPr/>
        </p:nvSpPr>
        <p:spPr>
          <a:xfrm>
            <a:off x="2103120" y="3291840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44546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OTLP over HTTP（http/protobuf）</a:t>
            </a:r>
            <a:endParaRPr lang="en-US" sz="1250" dirty="0"/>
          </a:p>
        </p:txBody>
      </p:sp>
      <p:sp>
        <p:nvSpPr>
          <p:cNvPr id="19" name="Text 17"/>
          <p:cNvSpPr/>
          <p:nvPr/>
        </p:nvSpPr>
        <p:spPr>
          <a:xfrm>
            <a:off x="868680" y="3822192"/>
            <a:ext cx="1188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E9BD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目的地</a:t>
            </a:r>
            <a:endParaRPr lang="en-US" sz="1250" dirty="0"/>
          </a:p>
        </p:txBody>
      </p:sp>
      <p:sp>
        <p:nvSpPr>
          <p:cNvPr id="20" name="Text 18"/>
          <p:cNvSpPr/>
          <p:nvPr/>
        </p:nvSpPr>
        <p:spPr>
          <a:xfrm>
            <a:off x="2103120" y="3822192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44546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Grafana Cloud OTLP Gateway</a:t>
            </a:r>
            <a:endParaRPr lang="en-US" sz="1250" dirty="0"/>
          </a:p>
        </p:txBody>
      </p:sp>
      <p:sp>
        <p:nvSpPr>
          <p:cNvPr id="21" name="Text 19"/>
          <p:cNvSpPr/>
          <p:nvPr/>
        </p:nvSpPr>
        <p:spPr>
          <a:xfrm>
            <a:off x="868680" y="4352544"/>
            <a:ext cx="1188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E9BD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認證</a:t>
            </a:r>
            <a:endParaRPr lang="en-US" sz="1250" dirty="0"/>
          </a:p>
        </p:txBody>
      </p:sp>
      <p:sp>
        <p:nvSpPr>
          <p:cNvPr id="22" name="Text 20"/>
          <p:cNvSpPr/>
          <p:nvPr/>
        </p:nvSpPr>
        <p:spPr>
          <a:xfrm>
            <a:off x="2103120" y="4352544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44546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Basic auth（instance ID + token）</a:t>
            </a:r>
            <a:endParaRPr lang="en-US" sz="1250" dirty="0"/>
          </a:p>
        </p:txBody>
      </p:sp>
      <p:sp>
        <p:nvSpPr>
          <p:cNvPr id="23" name="Text 21"/>
          <p:cNvSpPr/>
          <p:nvPr/>
        </p:nvSpPr>
        <p:spPr>
          <a:xfrm>
            <a:off x="868680" y="4882896"/>
            <a:ext cx="1188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E9BD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批次</a:t>
            </a:r>
            <a:endParaRPr lang="en-US" sz="1250" dirty="0"/>
          </a:p>
        </p:txBody>
      </p:sp>
      <p:sp>
        <p:nvSpPr>
          <p:cNvPr id="24" name="Text 22"/>
          <p:cNvSpPr/>
          <p:nvPr/>
        </p:nvSpPr>
        <p:spPr>
          <a:xfrm>
            <a:off x="2103120" y="4882896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44546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Batch span + 每 60s 推送指標</a:t>
            </a:r>
            <a:endParaRPr lang="en-US" sz="1250" dirty="0"/>
          </a:p>
        </p:txBody>
      </p:sp>
      <p:sp>
        <p:nvSpPr>
          <p:cNvPr id="25" name="Text 23"/>
          <p:cNvSpPr/>
          <p:nvPr/>
        </p:nvSpPr>
        <p:spPr>
          <a:xfrm>
            <a:off x="868680" y="5413248"/>
            <a:ext cx="1188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E9BD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Profiles</a:t>
            </a:r>
            <a:endParaRPr lang="en-US" sz="1250" dirty="0"/>
          </a:p>
        </p:txBody>
      </p:sp>
      <p:sp>
        <p:nvSpPr>
          <p:cNvPr id="26" name="Text 24"/>
          <p:cNvSpPr/>
          <p:nvPr/>
        </p:nvSpPr>
        <p:spPr>
          <a:xfrm>
            <a:off x="2103120" y="5413248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44546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走 Pyroscope 專屬 ingest 端點</a:t>
            </a:r>
            <a:endParaRPr lang="en-US" sz="1250" dirty="0"/>
          </a:p>
        </p:txBody>
      </p:sp>
      <p:sp>
        <p:nvSpPr>
          <p:cNvPr id="27" name="Shape 25"/>
          <p:cNvSpPr/>
          <p:nvPr/>
        </p:nvSpPr>
        <p:spPr>
          <a:xfrm>
            <a:off x="6080760" y="2651760"/>
            <a:ext cx="5559552" cy="1627632"/>
          </a:xfrm>
          <a:prstGeom prst="roundRect">
            <a:avLst>
              <a:gd name="adj" fmla="val 5056"/>
            </a:avLst>
          </a:prstGeom>
          <a:solidFill>
            <a:srgbClr val="FFFFFF"/>
          </a:solidFill>
          <a:ln w="12700">
            <a:solidFill>
              <a:srgbClr val="D7E0EE"/>
            </a:solidFill>
            <a:prstDash val="solid"/>
          </a:ln>
          <a:effectLst>
            <a:outerShdw sx="100000" sy="100000" kx="0" ky="0" algn="bl" rotWithShape="0" blurRad="88900" dist="25400" dir="5400000">
              <a:srgbClr val="8895AC">
                <a:alpha val="28000"/>
              </a:srgbClr>
            </a:outerShdw>
          </a:effectLst>
        </p:spPr>
      </p:sp>
      <p:sp>
        <p:nvSpPr>
          <p:cNvPr id="28" name="Shape 26"/>
          <p:cNvSpPr/>
          <p:nvPr/>
        </p:nvSpPr>
        <p:spPr>
          <a:xfrm>
            <a:off x="6309360" y="2871216"/>
            <a:ext cx="146304" cy="146304"/>
          </a:xfrm>
          <a:prstGeom prst="ellipse">
            <a:avLst/>
          </a:prstGeom>
          <a:solidFill>
            <a:srgbClr val="2E9460"/>
          </a:solidFill>
          <a:ln/>
        </p:spPr>
      </p:sp>
      <p:sp>
        <p:nvSpPr>
          <p:cNvPr id="29" name="Text 27"/>
          <p:cNvSpPr/>
          <p:nvPr/>
        </p:nvSpPr>
        <p:spPr>
          <a:xfrm>
            <a:off x="6547104" y="2779776"/>
            <a:ext cx="48828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E2A4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為什麼選 Direct</a:t>
            </a:r>
            <a:endParaRPr lang="en-US" sz="1500" dirty="0"/>
          </a:p>
        </p:txBody>
      </p:sp>
      <p:sp>
        <p:nvSpPr>
          <p:cNvPr id="30" name="Text 28"/>
          <p:cNvSpPr/>
          <p:nvPr/>
        </p:nvSpPr>
        <p:spPr>
          <a:xfrm>
            <a:off x="6400800" y="3200400"/>
            <a:ext cx="5029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44546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少一個要自己維運的元件,架構更簡單</a:t>
            </a:r>
            <a:endParaRPr lang="en-US" sz="125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44546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呼應「one SDK works with any backend」— 換後端不用改埋點</a:t>
            </a:r>
            <a:endParaRPr lang="en-US" sz="1250" dirty="0"/>
          </a:p>
        </p:txBody>
      </p:sp>
      <p:sp>
        <p:nvSpPr>
          <p:cNvPr id="31" name="Shape 29"/>
          <p:cNvSpPr/>
          <p:nvPr/>
        </p:nvSpPr>
        <p:spPr>
          <a:xfrm>
            <a:off x="6080760" y="4425696"/>
            <a:ext cx="5559552" cy="1609344"/>
          </a:xfrm>
          <a:prstGeom prst="roundRect">
            <a:avLst>
              <a:gd name="adj" fmla="val 5114"/>
            </a:avLst>
          </a:prstGeom>
          <a:solidFill>
            <a:srgbClr val="FFFFFF"/>
          </a:solidFill>
          <a:ln w="12700">
            <a:solidFill>
              <a:srgbClr val="D7E0EE"/>
            </a:solidFill>
            <a:prstDash val="solid"/>
          </a:ln>
          <a:effectLst>
            <a:outerShdw sx="100000" sy="100000" kx="0" ky="0" algn="bl" rotWithShape="0" blurRad="88900" dist="25400" dir="5400000">
              <a:srgbClr val="8895AC">
                <a:alpha val="28000"/>
              </a:srgbClr>
            </a:outerShdw>
          </a:effectLst>
        </p:spPr>
      </p:sp>
      <p:sp>
        <p:nvSpPr>
          <p:cNvPr id="32" name="Shape 30"/>
          <p:cNvSpPr/>
          <p:nvPr/>
        </p:nvSpPr>
        <p:spPr>
          <a:xfrm>
            <a:off x="6309360" y="4645152"/>
            <a:ext cx="146304" cy="146304"/>
          </a:xfrm>
          <a:prstGeom prst="ellipse">
            <a:avLst/>
          </a:prstGeom>
          <a:solidFill>
            <a:srgbClr val="D9791C"/>
          </a:solidFill>
          <a:ln/>
        </p:spPr>
      </p:sp>
      <p:sp>
        <p:nvSpPr>
          <p:cNvPr id="33" name="Text 31"/>
          <p:cNvSpPr/>
          <p:nvPr/>
        </p:nvSpPr>
        <p:spPr>
          <a:xfrm>
            <a:off x="6547104" y="4553712"/>
            <a:ext cx="48828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E2A4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代價(目前用不到)</a:t>
            </a:r>
            <a:endParaRPr lang="en-US" sz="1500" dirty="0"/>
          </a:p>
        </p:txBody>
      </p:sp>
      <p:sp>
        <p:nvSpPr>
          <p:cNvPr id="34" name="Text 32"/>
          <p:cNvSpPr/>
          <p:nvPr/>
        </p:nvSpPr>
        <p:spPr>
          <a:xfrm>
            <a:off x="6400800" y="4974336"/>
            <a:ext cx="5029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44546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少了 Collector 的本地緩衝 / 轉換彈性</a:t>
            </a:r>
            <a:endParaRPr lang="en-US" sz="125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44546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需要時可無痛在中間加上 Collector</a:t>
            </a:r>
            <a:endParaRPr lang="en-US" sz="1250" dirty="0"/>
          </a:p>
        </p:txBody>
      </p:sp>
      <p:sp>
        <p:nvSpPr>
          <p:cNvPr id="35" name="Shape 33"/>
          <p:cNvSpPr/>
          <p:nvPr/>
        </p:nvSpPr>
        <p:spPr>
          <a:xfrm>
            <a:off x="548640" y="6437376"/>
            <a:ext cx="11091672" cy="0"/>
          </a:xfrm>
          <a:prstGeom prst="line">
            <a:avLst/>
          </a:prstGeom>
          <a:noFill/>
          <a:ln w="12700">
            <a:solidFill>
              <a:srgbClr val="D7E0EE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548640" y="6464808"/>
            <a:ext cx="8686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E7C9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可觀測性 · IM 微服務後端 · 114-2 Cloud Native TEAM06</a:t>
            </a:r>
            <a:endParaRPr lang="en-US" sz="900" dirty="0"/>
          </a:p>
        </p:txBody>
      </p:sp>
      <p:sp>
        <p:nvSpPr>
          <p:cNvPr id="37" name="Text 35"/>
          <p:cNvSpPr/>
          <p:nvPr/>
        </p:nvSpPr>
        <p:spPr>
          <a:xfrm>
            <a:off x="11247120" y="6464808"/>
            <a:ext cx="3931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7C9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3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6F8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8348B8"/>
          </a:solidFill>
          <a:ln/>
        </p:spPr>
      </p:sp>
      <p:sp>
        <p:nvSpPr>
          <p:cNvPr id="3" name="Shape 1"/>
          <p:cNvSpPr/>
          <p:nvPr/>
        </p:nvSpPr>
        <p:spPr>
          <a:xfrm>
            <a:off x="548640" y="457200"/>
            <a:ext cx="548640" cy="548640"/>
          </a:xfrm>
          <a:prstGeom prst="ellipse">
            <a:avLst/>
          </a:prstGeom>
          <a:solidFill>
            <a:srgbClr val="8348B8"/>
          </a:solidFill>
          <a:ln/>
          <a:effectLst>
            <a:outerShdw sx="100000" sy="100000" kx="0" ky="0" algn="bl" rotWithShape="0" blurRad="88900" dist="25400" dir="5400000">
              <a:srgbClr val="8895AC">
                <a:alpha val="28000"/>
              </a:srgbClr>
            </a:outerShdw>
          </a:effectLst>
        </p:spPr>
      </p:sp>
      <p:sp>
        <p:nvSpPr>
          <p:cNvPr id="4" name="Text 2"/>
          <p:cNvSpPr/>
          <p:nvPr/>
        </p:nvSpPr>
        <p:spPr>
          <a:xfrm>
            <a:off x="548640" y="45720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3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1261872" y="420624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b="1" spc="300" kern="0" dirty="0">
                <a:solidFill>
                  <a:srgbClr val="8348B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VISUALIZE　視覺化</a:t>
            </a:r>
            <a:endParaRPr lang="en-US" sz="1250" dirty="0"/>
          </a:p>
        </p:txBody>
      </p:sp>
      <p:sp>
        <p:nvSpPr>
          <p:cNvPr id="6" name="Text 4"/>
          <p:cNvSpPr/>
          <p:nvPr/>
        </p:nvSpPr>
        <p:spPr>
          <a:xfrm>
            <a:off x="1243584" y="630936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900" b="1" dirty="0">
                <a:solidFill>
                  <a:srgbClr val="1E2A4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Grafana Cloud — 四訊號各有後端</a:t>
            </a:r>
            <a:endParaRPr lang="en-US" sz="2900" dirty="0"/>
          </a:p>
        </p:txBody>
      </p:sp>
      <p:sp>
        <p:nvSpPr>
          <p:cNvPr id="7" name="Text 5"/>
          <p:cNvSpPr/>
          <p:nvPr/>
        </p:nvSpPr>
        <p:spPr>
          <a:xfrm>
            <a:off x="1243584" y="1225296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44546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全部匯入 Grafana Cloud,加一張自製 dashboard,分服務下鑽。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548640" y="1783080"/>
            <a:ext cx="2670048" cy="2286000"/>
          </a:xfrm>
          <a:prstGeom prst="roundRect">
            <a:avLst>
              <a:gd name="adj" fmla="val 3600"/>
            </a:avLst>
          </a:prstGeom>
          <a:solidFill>
            <a:srgbClr val="FFFFFF"/>
          </a:solidFill>
          <a:ln w="12700">
            <a:solidFill>
              <a:srgbClr val="D7E0EE"/>
            </a:solidFill>
            <a:prstDash val="solid"/>
          </a:ln>
          <a:effectLst>
            <a:outerShdw sx="100000" sy="100000" kx="0" ky="0" algn="bl" rotWithShape="0" blurRad="88900" dist="25400" dir="5400000">
              <a:srgbClr val="8895AC">
                <a:alpha val="28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548640" y="1783080"/>
            <a:ext cx="2670048" cy="566928"/>
          </a:xfrm>
          <a:prstGeom prst="roundRect">
            <a:avLst>
              <a:gd name="adj" fmla="val 14516"/>
            </a:avLst>
          </a:prstGeom>
          <a:solidFill>
            <a:srgbClr val="D9791C"/>
          </a:solidFill>
          <a:ln/>
        </p:spPr>
      </p:sp>
      <p:sp>
        <p:nvSpPr>
          <p:cNvPr id="10" name="Shape 8"/>
          <p:cNvSpPr/>
          <p:nvPr/>
        </p:nvSpPr>
        <p:spPr>
          <a:xfrm>
            <a:off x="548640" y="2075688"/>
            <a:ext cx="2670048" cy="274320"/>
          </a:xfrm>
          <a:prstGeom prst="rect">
            <a:avLst/>
          </a:prstGeom>
          <a:solidFill>
            <a:srgbClr val="D9791C"/>
          </a:solidFill>
          <a:ln/>
        </p:spPr>
      </p:sp>
      <p:sp>
        <p:nvSpPr>
          <p:cNvPr id="11" name="Text 9"/>
          <p:cNvSpPr/>
          <p:nvPr/>
        </p:nvSpPr>
        <p:spPr>
          <a:xfrm>
            <a:off x="731520" y="1783080"/>
            <a:ext cx="230428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Tempo</a:t>
            </a:r>
            <a:endParaRPr lang="en-US" sz="1700" dirty="0"/>
          </a:p>
        </p:txBody>
      </p:sp>
      <p:sp>
        <p:nvSpPr>
          <p:cNvPr id="12" name="Text 10"/>
          <p:cNvSpPr/>
          <p:nvPr/>
        </p:nvSpPr>
        <p:spPr>
          <a:xfrm>
            <a:off x="731520" y="2496312"/>
            <a:ext cx="23042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9791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Traces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731520" y="2807208"/>
            <a:ext cx="2304288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4546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跨服務請求時間軸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44546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瓶頸落在哪一段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3401568" y="1783080"/>
            <a:ext cx="2670048" cy="2286000"/>
          </a:xfrm>
          <a:prstGeom prst="roundRect">
            <a:avLst>
              <a:gd name="adj" fmla="val 3600"/>
            </a:avLst>
          </a:prstGeom>
          <a:solidFill>
            <a:srgbClr val="FFFFFF"/>
          </a:solidFill>
          <a:ln w="12700">
            <a:solidFill>
              <a:srgbClr val="D7E0EE"/>
            </a:solidFill>
            <a:prstDash val="solid"/>
          </a:ln>
          <a:effectLst>
            <a:outerShdw sx="100000" sy="100000" kx="0" ky="0" algn="bl" rotWithShape="0" blurRad="88900" dist="25400" dir="5400000">
              <a:srgbClr val="8895AC">
                <a:alpha val="28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3401568" y="1783080"/>
            <a:ext cx="2670048" cy="566928"/>
          </a:xfrm>
          <a:prstGeom prst="roundRect">
            <a:avLst>
              <a:gd name="adj" fmla="val 14516"/>
            </a:avLst>
          </a:prstGeom>
          <a:solidFill>
            <a:srgbClr val="2F6FC0"/>
          </a:solidFill>
          <a:ln/>
        </p:spPr>
      </p:sp>
      <p:sp>
        <p:nvSpPr>
          <p:cNvPr id="16" name="Shape 14"/>
          <p:cNvSpPr/>
          <p:nvPr/>
        </p:nvSpPr>
        <p:spPr>
          <a:xfrm>
            <a:off x="3401568" y="2075688"/>
            <a:ext cx="2670048" cy="274320"/>
          </a:xfrm>
          <a:prstGeom prst="rect">
            <a:avLst/>
          </a:prstGeom>
          <a:solidFill>
            <a:srgbClr val="2F6FC0"/>
          </a:solidFill>
          <a:ln/>
        </p:spPr>
      </p:sp>
      <p:sp>
        <p:nvSpPr>
          <p:cNvPr id="17" name="Text 15"/>
          <p:cNvSpPr/>
          <p:nvPr/>
        </p:nvSpPr>
        <p:spPr>
          <a:xfrm>
            <a:off x="3584448" y="1783080"/>
            <a:ext cx="230428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Mimir</a:t>
            </a:r>
            <a:endParaRPr lang="en-US" sz="1700" dirty="0"/>
          </a:p>
        </p:txBody>
      </p:sp>
      <p:sp>
        <p:nvSpPr>
          <p:cNvPr id="18" name="Text 16"/>
          <p:cNvSpPr/>
          <p:nvPr/>
        </p:nvSpPr>
        <p:spPr>
          <a:xfrm>
            <a:off x="3584448" y="2496312"/>
            <a:ext cx="23042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F6FC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Metrics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3584448" y="2807208"/>
            <a:ext cx="2304288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4546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吞吐 / 延遲 / 連線數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44546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資源使用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6254496" y="1783080"/>
            <a:ext cx="2670048" cy="2286000"/>
          </a:xfrm>
          <a:prstGeom prst="roundRect">
            <a:avLst>
              <a:gd name="adj" fmla="val 3600"/>
            </a:avLst>
          </a:prstGeom>
          <a:solidFill>
            <a:srgbClr val="FFFFFF"/>
          </a:solidFill>
          <a:ln w="12700">
            <a:solidFill>
              <a:srgbClr val="D7E0EE"/>
            </a:solidFill>
            <a:prstDash val="solid"/>
          </a:ln>
          <a:effectLst>
            <a:outerShdw sx="100000" sy="100000" kx="0" ky="0" algn="bl" rotWithShape="0" blurRad="88900" dist="25400" dir="5400000">
              <a:srgbClr val="8895AC">
                <a:alpha val="28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6254496" y="1783080"/>
            <a:ext cx="2670048" cy="566928"/>
          </a:xfrm>
          <a:prstGeom prst="roundRect">
            <a:avLst>
              <a:gd name="adj" fmla="val 14516"/>
            </a:avLst>
          </a:prstGeom>
          <a:solidFill>
            <a:srgbClr val="2E9460"/>
          </a:solidFill>
          <a:ln/>
        </p:spPr>
      </p:sp>
      <p:sp>
        <p:nvSpPr>
          <p:cNvPr id="22" name="Shape 20"/>
          <p:cNvSpPr/>
          <p:nvPr/>
        </p:nvSpPr>
        <p:spPr>
          <a:xfrm>
            <a:off x="6254496" y="2075688"/>
            <a:ext cx="2670048" cy="274320"/>
          </a:xfrm>
          <a:prstGeom prst="rect">
            <a:avLst/>
          </a:prstGeom>
          <a:solidFill>
            <a:srgbClr val="2E9460"/>
          </a:solidFill>
          <a:ln/>
        </p:spPr>
      </p:sp>
      <p:sp>
        <p:nvSpPr>
          <p:cNvPr id="23" name="Text 21"/>
          <p:cNvSpPr/>
          <p:nvPr/>
        </p:nvSpPr>
        <p:spPr>
          <a:xfrm>
            <a:off x="6437376" y="1783080"/>
            <a:ext cx="230428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Loki</a:t>
            </a:r>
            <a:endParaRPr lang="en-US" sz="1700" dirty="0"/>
          </a:p>
        </p:txBody>
      </p:sp>
      <p:sp>
        <p:nvSpPr>
          <p:cNvPr id="24" name="Text 22"/>
          <p:cNvSpPr/>
          <p:nvPr/>
        </p:nvSpPr>
        <p:spPr>
          <a:xfrm>
            <a:off x="6437376" y="2496312"/>
            <a:ext cx="23042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E946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Logs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437376" y="2807208"/>
            <a:ext cx="2304288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4546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結構化日誌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44546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依 trace_id 對齊</a:t>
            </a:r>
            <a:endParaRPr lang="en-US" sz="1200" dirty="0"/>
          </a:p>
        </p:txBody>
      </p:sp>
      <p:sp>
        <p:nvSpPr>
          <p:cNvPr id="26" name="Shape 24"/>
          <p:cNvSpPr/>
          <p:nvPr/>
        </p:nvSpPr>
        <p:spPr>
          <a:xfrm>
            <a:off x="9107424" y="1783080"/>
            <a:ext cx="2670048" cy="2286000"/>
          </a:xfrm>
          <a:prstGeom prst="roundRect">
            <a:avLst>
              <a:gd name="adj" fmla="val 3600"/>
            </a:avLst>
          </a:prstGeom>
          <a:solidFill>
            <a:srgbClr val="FFFFFF"/>
          </a:solidFill>
          <a:ln w="12700">
            <a:solidFill>
              <a:srgbClr val="D7E0EE"/>
            </a:solidFill>
            <a:prstDash val="solid"/>
          </a:ln>
          <a:effectLst>
            <a:outerShdw sx="100000" sy="100000" kx="0" ky="0" algn="bl" rotWithShape="0" blurRad="88900" dist="25400" dir="5400000">
              <a:srgbClr val="8895AC">
                <a:alpha val="28000"/>
              </a:srgbClr>
            </a:outerShdw>
          </a:effectLst>
        </p:spPr>
      </p:sp>
      <p:sp>
        <p:nvSpPr>
          <p:cNvPr id="27" name="Shape 25"/>
          <p:cNvSpPr/>
          <p:nvPr/>
        </p:nvSpPr>
        <p:spPr>
          <a:xfrm>
            <a:off x="9107424" y="1783080"/>
            <a:ext cx="2670048" cy="566928"/>
          </a:xfrm>
          <a:prstGeom prst="roundRect">
            <a:avLst>
              <a:gd name="adj" fmla="val 14516"/>
            </a:avLst>
          </a:prstGeom>
          <a:solidFill>
            <a:srgbClr val="8348B8"/>
          </a:solidFill>
          <a:ln/>
        </p:spPr>
      </p:sp>
      <p:sp>
        <p:nvSpPr>
          <p:cNvPr id="28" name="Shape 26"/>
          <p:cNvSpPr/>
          <p:nvPr/>
        </p:nvSpPr>
        <p:spPr>
          <a:xfrm>
            <a:off x="9107424" y="2075688"/>
            <a:ext cx="2670048" cy="274320"/>
          </a:xfrm>
          <a:prstGeom prst="rect">
            <a:avLst/>
          </a:prstGeom>
          <a:solidFill>
            <a:srgbClr val="8348B8"/>
          </a:solidFill>
          <a:ln/>
        </p:spPr>
      </p:sp>
      <p:sp>
        <p:nvSpPr>
          <p:cNvPr id="29" name="Text 27"/>
          <p:cNvSpPr/>
          <p:nvPr/>
        </p:nvSpPr>
        <p:spPr>
          <a:xfrm>
            <a:off x="9290304" y="1783080"/>
            <a:ext cx="230428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Pyroscope</a:t>
            </a:r>
            <a:endParaRPr lang="en-US" sz="1700" dirty="0"/>
          </a:p>
        </p:txBody>
      </p:sp>
      <p:sp>
        <p:nvSpPr>
          <p:cNvPr id="30" name="Text 28"/>
          <p:cNvSpPr/>
          <p:nvPr/>
        </p:nvSpPr>
        <p:spPr>
          <a:xfrm>
            <a:off x="9290304" y="2496312"/>
            <a:ext cx="23042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8348B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Profiles</a:t>
            </a:r>
            <a:endParaRPr lang="en-US" sz="1300" dirty="0"/>
          </a:p>
        </p:txBody>
      </p:sp>
      <p:sp>
        <p:nvSpPr>
          <p:cNvPr id="31" name="Text 29"/>
          <p:cNvSpPr/>
          <p:nvPr/>
        </p:nvSpPr>
        <p:spPr>
          <a:xfrm>
            <a:off x="9290304" y="2807208"/>
            <a:ext cx="2304288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4546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CPU / wall 火焰圖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44546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定位熱點函式</a:t>
            </a:r>
            <a:endParaRPr lang="en-US" sz="1200" dirty="0"/>
          </a:p>
        </p:txBody>
      </p:sp>
      <p:sp>
        <p:nvSpPr>
          <p:cNvPr id="32" name="Shape 30"/>
          <p:cNvSpPr/>
          <p:nvPr/>
        </p:nvSpPr>
        <p:spPr>
          <a:xfrm>
            <a:off x="548640" y="4315968"/>
            <a:ext cx="11091672" cy="1700784"/>
          </a:xfrm>
          <a:prstGeom prst="roundRect">
            <a:avLst>
              <a:gd name="adj" fmla="val 4839"/>
            </a:avLst>
          </a:prstGeom>
          <a:solidFill>
            <a:srgbClr val="EDF3FB"/>
          </a:solidFill>
          <a:ln w="12700">
            <a:solidFill>
              <a:srgbClr val="D7E0EE"/>
            </a:solidFill>
            <a:prstDash val="solid"/>
          </a:ln>
          <a:effectLst>
            <a:outerShdw sx="100000" sy="100000" kx="0" ky="0" algn="bl" rotWithShape="0" blurRad="88900" dist="25400" dir="5400000">
              <a:srgbClr val="8895AC">
                <a:alpha val="28000"/>
              </a:srgbClr>
            </a:outerShdw>
          </a:effectLst>
        </p:spPr>
      </p:sp>
      <p:sp>
        <p:nvSpPr>
          <p:cNvPr id="33" name="Shape 31"/>
          <p:cNvSpPr/>
          <p:nvPr/>
        </p:nvSpPr>
        <p:spPr>
          <a:xfrm>
            <a:off x="777240" y="4553712"/>
            <a:ext cx="146304" cy="146304"/>
          </a:xfrm>
          <a:prstGeom prst="ellipse">
            <a:avLst/>
          </a:prstGeom>
          <a:solidFill>
            <a:srgbClr val="0E9BD6"/>
          </a:solidFill>
          <a:ln/>
        </p:spPr>
      </p:sp>
      <p:sp>
        <p:nvSpPr>
          <p:cNvPr id="34" name="Text 32"/>
          <p:cNvSpPr/>
          <p:nvPr/>
        </p:nvSpPr>
        <p:spPr>
          <a:xfrm>
            <a:off x="1014984" y="4462272"/>
            <a:ext cx="103692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E2A4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自製 Dashboard　im-dashboard.json</a:t>
            </a:r>
            <a:endParaRPr lang="en-US" sz="1500" dirty="0"/>
          </a:p>
        </p:txBody>
      </p:sp>
      <p:sp>
        <p:nvSpPr>
          <p:cNvPr id="35" name="Text 33"/>
          <p:cNvSpPr/>
          <p:nvPr/>
        </p:nvSpPr>
        <p:spPr>
          <a:xfrm>
            <a:off x="868680" y="4901184"/>
            <a:ext cx="10607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700"/>
              </a:spcAft>
              <a:buNone/>
            </a:pPr>
            <a:r>
              <a:rPr lang="en-US" sz="1300" dirty="0">
                <a:solidFill>
                  <a:srgbClr val="44546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分服務下鑽($service 變數) · DB / HTTP / WebSocket 三大區 · traces ↔ logs ↔ metrics 互相關聯</a:t>
            </a:r>
            <a:endParaRPr lang="en-US" sz="1300" dirty="0"/>
          </a:p>
          <a:p>
            <a:pPr indent="0" marL="0">
              <a:spcAft>
                <a:spcPts val="700"/>
              </a:spcAft>
              <a:buNone/>
            </a:pPr>
            <a:r>
              <a:rPr lang="en-US" sz="1300" dirty="0">
                <a:solidFill>
                  <a:srgbClr val="6E7C9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永遠在線 · 免費方案 · 團隊多人共用</a:t>
            </a:r>
            <a:endParaRPr lang="en-US" sz="1300" dirty="0"/>
          </a:p>
        </p:txBody>
      </p:sp>
      <p:sp>
        <p:nvSpPr>
          <p:cNvPr id="36" name="Shape 34"/>
          <p:cNvSpPr/>
          <p:nvPr/>
        </p:nvSpPr>
        <p:spPr>
          <a:xfrm>
            <a:off x="548640" y="6437376"/>
            <a:ext cx="11091672" cy="0"/>
          </a:xfrm>
          <a:prstGeom prst="line">
            <a:avLst/>
          </a:prstGeom>
          <a:noFill/>
          <a:ln w="12700">
            <a:solidFill>
              <a:srgbClr val="D7E0EE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548640" y="6464808"/>
            <a:ext cx="8686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E7C9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可觀測性 · IM 微服務後端 · 114-2 Cloud Native TEAM06</a:t>
            </a:r>
            <a:endParaRPr lang="en-US" sz="900" dirty="0"/>
          </a:p>
        </p:txBody>
      </p:sp>
      <p:sp>
        <p:nvSpPr>
          <p:cNvPr id="38" name="Text 36"/>
          <p:cNvSpPr/>
          <p:nvPr/>
        </p:nvSpPr>
        <p:spPr>
          <a:xfrm>
            <a:off x="11247120" y="6464808"/>
            <a:ext cx="3931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7C9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4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6F8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0E9BD6"/>
          </a:solidFill>
          <a:ln/>
        </p:spPr>
      </p:sp>
      <p:sp>
        <p:nvSpPr>
          <p:cNvPr id="3" name="Shape 1"/>
          <p:cNvSpPr/>
          <p:nvPr/>
        </p:nvSpPr>
        <p:spPr>
          <a:xfrm>
            <a:off x="548640" y="457200"/>
            <a:ext cx="548640" cy="548640"/>
          </a:xfrm>
          <a:prstGeom prst="ellipse">
            <a:avLst/>
          </a:prstGeom>
          <a:solidFill>
            <a:srgbClr val="0E9BD6"/>
          </a:solidFill>
          <a:ln/>
          <a:effectLst>
            <a:outerShdw sx="100000" sy="100000" kx="0" ky="0" algn="bl" rotWithShape="0" blurRad="88900" dist="25400" dir="5400000">
              <a:srgbClr val="8895AC">
                <a:alpha val="28000"/>
              </a:srgbClr>
            </a:outerShdw>
          </a:effectLst>
        </p:spPr>
      </p:sp>
      <p:sp>
        <p:nvSpPr>
          <p:cNvPr id="4" name="Text 2"/>
          <p:cNvSpPr/>
          <p:nvPr/>
        </p:nvSpPr>
        <p:spPr>
          <a:xfrm>
            <a:off x="1261872" y="420624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b="1" spc="300" kern="0" dirty="0">
                <a:solidFill>
                  <a:srgbClr val="0E9BD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DEMO 數據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1243584" y="630936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900" b="1" dirty="0">
                <a:solidFill>
                  <a:srgbClr val="1E2A4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實際數據(壓測灌流量)</a:t>
            </a:r>
            <a:endParaRPr lang="en-US" sz="2900" dirty="0"/>
          </a:p>
        </p:txBody>
      </p:sp>
      <p:sp>
        <p:nvSpPr>
          <p:cNvPr id="6" name="Shape 4"/>
          <p:cNvSpPr/>
          <p:nvPr/>
        </p:nvSpPr>
        <p:spPr>
          <a:xfrm>
            <a:off x="548640" y="1554480"/>
            <a:ext cx="2057400" cy="1737360"/>
          </a:xfrm>
          <a:prstGeom prst="roundRect">
            <a:avLst>
              <a:gd name="adj" fmla="val 4737"/>
            </a:avLst>
          </a:prstGeom>
          <a:solidFill>
            <a:srgbClr val="FFFFFF"/>
          </a:solidFill>
          <a:ln w="12700">
            <a:solidFill>
              <a:srgbClr val="D7E0EE"/>
            </a:solidFill>
            <a:prstDash val="solid"/>
          </a:ln>
          <a:effectLst>
            <a:outerShdw sx="100000" sy="100000" kx="0" ky="0" algn="bl" rotWithShape="0" blurRad="88900" dist="25400" dir="5400000">
              <a:srgbClr val="8895AC">
                <a:alpha val="28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548640" y="1719072"/>
            <a:ext cx="20574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600" b="1" dirty="0">
                <a:solidFill>
                  <a:srgbClr val="0E9BD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120</a:t>
            </a:r>
            <a:pPr algn="ctr" indent="0" marL="0">
              <a:buNone/>
            </a:pPr>
            <a:r>
              <a:rPr lang="en-US" sz="1600" b="1" dirty="0">
                <a:solidFill>
                  <a:srgbClr val="0E9BD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req/s</a:t>
            </a:r>
            <a:endParaRPr lang="en-US" sz="4600" dirty="0"/>
          </a:p>
        </p:txBody>
      </p:sp>
      <p:sp>
        <p:nvSpPr>
          <p:cNvPr id="8" name="Text 6"/>
          <p:cNvSpPr/>
          <p:nvPr/>
        </p:nvSpPr>
        <p:spPr>
          <a:xfrm>
            <a:off x="548640" y="2633472"/>
            <a:ext cx="2057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44546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DB 寫入尖峰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2788920" y="1554480"/>
            <a:ext cx="2057400" cy="1737360"/>
          </a:xfrm>
          <a:prstGeom prst="roundRect">
            <a:avLst>
              <a:gd name="adj" fmla="val 4737"/>
            </a:avLst>
          </a:prstGeom>
          <a:solidFill>
            <a:srgbClr val="FFFFFF"/>
          </a:solidFill>
          <a:ln w="12700">
            <a:solidFill>
              <a:srgbClr val="D7E0EE"/>
            </a:solidFill>
            <a:prstDash val="solid"/>
          </a:ln>
          <a:effectLst>
            <a:outerShdw sx="100000" sy="100000" kx="0" ky="0" algn="bl" rotWithShape="0" blurRad="88900" dist="25400" dir="5400000">
              <a:srgbClr val="8895AC">
                <a:alpha val="28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2788920" y="1719072"/>
            <a:ext cx="20574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600" b="1" dirty="0">
                <a:solidFill>
                  <a:srgbClr val="D9791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23</a:t>
            </a:r>
            <a:pPr algn="ctr" indent="0" marL="0">
              <a:buNone/>
            </a:pPr>
            <a:r>
              <a:rPr lang="en-US" sz="1600" b="1" dirty="0">
                <a:solidFill>
                  <a:srgbClr val="D9791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ms</a:t>
            </a:r>
            <a:endParaRPr lang="en-US" sz="4600" dirty="0"/>
          </a:p>
        </p:txBody>
      </p:sp>
      <p:sp>
        <p:nvSpPr>
          <p:cNvPr id="11" name="Text 9"/>
          <p:cNvSpPr/>
          <p:nvPr/>
        </p:nvSpPr>
        <p:spPr>
          <a:xfrm>
            <a:off x="2788920" y="2633472"/>
            <a:ext cx="2057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44546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DB 查詢 p95 延遲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5029200" y="1554480"/>
            <a:ext cx="2057400" cy="1737360"/>
          </a:xfrm>
          <a:prstGeom prst="roundRect">
            <a:avLst>
              <a:gd name="adj" fmla="val 4737"/>
            </a:avLst>
          </a:prstGeom>
          <a:solidFill>
            <a:srgbClr val="FFFFFF"/>
          </a:solidFill>
          <a:ln w="12700">
            <a:solidFill>
              <a:srgbClr val="D7E0EE"/>
            </a:solidFill>
            <a:prstDash val="solid"/>
          </a:ln>
          <a:effectLst>
            <a:outerShdw sx="100000" sy="100000" kx="0" ky="0" algn="bl" rotWithShape="0" blurRad="88900" dist="25400" dir="5400000">
              <a:srgbClr val="8895AC">
                <a:alpha val="28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5029200" y="1719072"/>
            <a:ext cx="20574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600" b="1" dirty="0">
                <a:solidFill>
                  <a:srgbClr val="2E946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20</a:t>
            </a:r>
            <a:pPr algn="ctr" indent="0" marL="0">
              <a:buNone/>
            </a:pPr>
            <a:r>
              <a:rPr lang="en-US" sz="1600" b="1" dirty="0">
                <a:solidFill>
                  <a:srgbClr val="2E946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</a:t>
            </a:r>
            <a:endParaRPr lang="en-US" sz="4600" dirty="0"/>
          </a:p>
        </p:txBody>
      </p:sp>
      <p:sp>
        <p:nvSpPr>
          <p:cNvPr id="14" name="Text 12"/>
          <p:cNvSpPr/>
          <p:nvPr/>
        </p:nvSpPr>
        <p:spPr>
          <a:xfrm>
            <a:off x="5029200" y="2633472"/>
            <a:ext cx="2057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44546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WebSocket 同時連線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7040880" y="1554480"/>
            <a:ext cx="4599432" cy="4297680"/>
          </a:xfrm>
          <a:prstGeom prst="roundRect">
            <a:avLst>
              <a:gd name="adj" fmla="val 1915"/>
            </a:avLst>
          </a:prstGeom>
          <a:solidFill>
            <a:srgbClr val="FFFFFF"/>
          </a:solidFill>
          <a:ln w="12700">
            <a:solidFill>
              <a:srgbClr val="D7E0EE"/>
            </a:solidFill>
            <a:prstDash val="solid"/>
          </a:ln>
          <a:effectLst>
            <a:outerShdw sx="100000" sy="100000" kx="0" ky="0" algn="bl" rotWithShape="0" blurRad="88900" dist="25400" dir="5400000">
              <a:srgbClr val="8895AC">
                <a:alpha val="28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7269480" y="1773936"/>
            <a:ext cx="146304" cy="146304"/>
          </a:xfrm>
          <a:prstGeom prst="ellipse">
            <a:avLst/>
          </a:prstGeom>
          <a:solidFill>
            <a:srgbClr val="0E9BD6"/>
          </a:solidFill>
          <a:ln/>
        </p:spPr>
      </p:sp>
      <p:sp>
        <p:nvSpPr>
          <p:cNvPr id="17" name="Text 15"/>
          <p:cNvSpPr/>
          <p:nvPr/>
        </p:nvSpPr>
        <p:spPr>
          <a:xfrm>
            <a:off x="7507224" y="1682496"/>
            <a:ext cx="39684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E2A4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DB queries / sec(分服務)</a:t>
            </a:r>
            <a:endParaRPr lang="en-US" sz="1500" dirty="0"/>
          </a:p>
        </p:txBody>
      </p:sp>
      <p:graphicFrame>
        <p:nvGraphicFramePr>
          <p:cNvPr id="18" name="Chart 0" descr=""/>
          <p:cNvGraphicFramePr/>
          <p:nvPr/>
        </p:nvGraphicFramePr>
        <p:xfrm>
          <a:off x="7178040" y="2194560"/>
          <a:ext cx="4343400" cy="34747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9" name="Shape 16"/>
          <p:cNvSpPr/>
          <p:nvPr/>
        </p:nvSpPr>
        <p:spPr>
          <a:xfrm>
            <a:off x="548640" y="3520440"/>
            <a:ext cx="6263640" cy="2331720"/>
          </a:xfrm>
          <a:prstGeom prst="roundRect">
            <a:avLst>
              <a:gd name="adj" fmla="val 3529"/>
            </a:avLst>
          </a:prstGeom>
          <a:solidFill>
            <a:srgbClr val="EDF3FB"/>
          </a:solidFill>
          <a:ln w="12700">
            <a:solidFill>
              <a:srgbClr val="D7E0EE"/>
            </a:solidFill>
            <a:prstDash val="solid"/>
          </a:ln>
          <a:effectLst>
            <a:outerShdw sx="100000" sy="100000" kx="0" ky="0" algn="bl" rotWithShape="0" blurRad="88900" dist="25400" dir="5400000">
              <a:srgbClr val="8895AC">
                <a:alpha val="28000"/>
              </a:srgbClr>
            </a:outerShdw>
          </a:effectLst>
        </p:spPr>
      </p:sp>
      <p:sp>
        <p:nvSpPr>
          <p:cNvPr id="20" name="Shape 17"/>
          <p:cNvSpPr/>
          <p:nvPr/>
        </p:nvSpPr>
        <p:spPr>
          <a:xfrm>
            <a:off x="777240" y="3758184"/>
            <a:ext cx="146304" cy="146304"/>
          </a:xfrm>
          <a:prstGeom prst="ellipse">
            <a:avLst/>
          </a:prstGeom>
          <a:solidFill>
            <a:srgbClr val="D9791C"/>
          </a:solidFill>
          <a:ln/>
        </p:spPr>
      </p:sp>
      <p:sp>
        <p:nvSpPr>
          <p:cNvPr id="21" name="Text 18"/>
          <p:cNvSpPr/>
          <p:nvPr/>
        </p:nvSpPr>
        <p:spPr>
          <a:xfrm>
            <a:off x="1014984" y="3666744"/>
            <a:ext cx="56144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E2A4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這張圖說了什麼</a:t>
            </a:r>
            <a:endParaRPr lang="en-US" sz="1500" dirty="0"/>
          </a:p>
        </p:txBody>
      </p:sp>
      <p:sp>
        <p:nvSpPr>
          <p:cNvPr id="22" name="Text 19"/>
          <p:cNvSpPr/>
          <p:nvPr/>
        </p:nvSpPr>
        <p:spPr>
          <a:xfrm>
            <a:off x="868680" y="4114800"/>
            <a:ext cx="585216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44546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DB 寫入幾乎全集中在 message-writer(117 req/s)</a:t>
            </a:r>
            <a:endParaRPr lang="en-US" sz="12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44546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→ 驗證非同步寫入架構:訊息進 NATS 佇列,由 writer 批次落地</a:t>
            </a:r>
            <a:endParaRPr lang="en-US" sz="12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44546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p50 ≈ 2ms / p95 ≈ 23ms — 該負載下 DB 仍健康</a:t>
            </a:r>
            <a:endParaRPr lang="en-US" sz="1250" dirty="0"/>
          </a:p>
        </p:txBody>
      </p:sp>
      <p:sp>
        <p:nvSpPr>
          <p:cNvPr id="23" name="Shape 20"/>
          <p:cNvSpPr/>
          <p:nvPr/>
        </p:nvSpPr>
        <p:spPr>
          <a:xfrm>
            <a:off x="548640" y="6437376"/>
            <a:ext cx="11091672" cy="0"/>
          </a:xfrm>
          <a:prstGeom prst="line">
            <a:avLst/>
          </a:prstGeom>
          <a:noFill/>
          <a:ln w="12700">
            <a:solidFill>
              <a:srgbClr val="D7E0EE"/>
            </a:solidFill>
            <a:prstDash val="solid"/>
          </a:ln>
        </p:spPr>
      </p:sp>
      <p:sp>
        <p:nvSpPr>
          <p:cNvPr id="24" name="Text 21"/>
          <p:cNvSpPr/>
          <p:nvPr/>
        </p:nvSpPr>
        <p:spPr>
          <a:xfrm>
            <a:off x="548640" y="6464808"/>
            <a:ext cx="8686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E7C9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可觀測性 · IM 微服務後端 · 114-2 Cloud Native TEAM06</a:t>
            </a:r>
            <a:endParaRPr lang="en-US" sz="900" dirty="0"/>
          </a:p>
        </p:txBody>
      </p:sp>
      <p:sp>
        <p:nvSpPr>
          <p:cNvPr id="25" name="Text 22"/>
          <p:cNvSpPr/>
          <p:nvPr/>
        </p:nvSpPr>
        <p:spPr>
          <a:xfrm>
            <a:off x="11247120" y="6464808"/>
            <a:ext cx="3931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7C9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5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6F8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D9791C"/>
          </a:solidFill>
          <a:ln/>
        </p:spPr>
      </p:sp>
      <p:sp>
        <p:nvSpPr>
          <p:cNvPr id="3" name="Shape 1"/>
          <p:cNvSpPr/>
          <p:nvPr/>
        </p:nvSpPr>
        <p:spPr>
          <a:xfrm>
            <a:off x="548640" y="457200"/>
            <a:ext cx="548640" cy="548640"/>
          </a:xfrm>
          <a:prstGeom prst="ellipse">
            <a:avLst/>
          </a:prstGeom>
          <a:solidFill>
            <a:srgbClr val="D9791C"/>
          </a:solidFill>
          <a:ln/>
          <a:effectLst>
            <a:outerShdw sx="100000" sy="100000" kx="0" ky="0" algn="bl" rotWithShape="0" blurRad="88900" dist="25400" dir="5400000">
              <a:srgbClr val="8895AC">
                <a:alpha val="28000"/>
              </a:srgbClr>
            </a:outerShdw>
          </a:effectLst>
        </p:spPr>
      </p:sp>
      <p:sp>
        <p:nvSpPr>
          <p:cNvPr id="4" name="Text 2"/>
          <p:cNvSpPr/>
          <p:nvPr/>
        </p:nvSpPr>
        <p:spPr>
          <a:xfrm>
            <a:off x="1261872" y="420624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b="1" spc="300" kern="0" dirty="0">
                <a:solidFill>
                  <a:srgbClr val="D9791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為什麼值得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1243584" y="630936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900" b="1" dirty="0">
                <a:solidFill>
                  <a:srgbClr val="1E2A4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大流量時看得到什麼</a:t>
            </a:r>
            <a:endParaRPr lang="en-US" sz="2900" dirty="0"/>
          </a:p>
        </p:txBody>
      </p:sp>
      <p:sp>
        <p:nvSpPr>
          <p:cNvPr id="6" name="Text 4"/>
          <p:cNvSpPr/>
          <p:nvPr/>
        </p:nvSpPr>
        <p:spPr>
          <a:xfrm>
            <a:off x="1243584" y="1225296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44546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當每秒訊息往「上千」爬時,這張 dashboard 即時告訴我們: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548640" y="1737360"/>
            <a:ext cx="5440680" cy="1298448"/>
          </a:xfrm>
          <a:prstGeom prst="roundRect">
            <a:avLst>
              <a:gd name="adj" fmla="val 6338"/>
            </a:avLst>
          </a:prstGeom>
          <a:solidFill>
            <a:srgbClr val="FFFFFF"/>
          </a:solidFill>
          <a:ln w="12700">
            <a:solidFill>
              <a:srgbClr val="D7E0EE"/>
            </a:solidFill>
            <a:prstDash val="solid"/>
          </a:ln>
          <a:effectLst>
            <a:outerShdw sx="100000" sy="100000" kx="0" ky="0" algn="bl" rotWithShape="0" blurRad="88900" dist="25400" dir="5400000">
              <a:srgbClr val="8895AC">
                <a:alpha val="28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804672" y="1993392"/>
            <a:ext cx="164592" cy="164592"/>
          </a:xfrm>
          <a:prstGeom prst="ellipse">
            <a:avLst/>
          </a:prstGeom>
          <a:solidFill>
            <a:srgbClr val="0E9BD6"/>
          </a:solidFill>
          <a:ln/>
        </p:spPr>
      </p:sp>
      <p:sp>
        <p:nvSpPr>
          <p:cNvPr id="9" name="Text 7"/>
          <p:cNvSpPr/>
          <p:nvPr/>
        </p:nvSpPr>
        <p:spPr>
          <a:xfrm>
            <a:off x="1097280" y="1901952"/>
            <a:ext cx="4709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2A4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message-writer 的 DB 寫入率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1097280" y="2340864"/>
            <a:ext cx="4709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44546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會不會先頂到天花板 → 是否要加 writer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6199632" y="1737360"/>
            <a:ext cx="5440680" cy="1298448"/>
          </a:xfrm>
          <a:prstGeom prst="roundRect">
            <a:avLst>
              <a:gd name="adj" fmla="val 6338"/>
            </a:avLst>
          </a:prstGeom>
          <a:solidFill>
            <a:srgbClr val="FFFFFF"/>
          </a:solidFill>
          <a:ln w="12700">
            <a:solidFill>
              <a:srgbClr val="D7E0EE"/>
            </a:solidFill>
            <a:prstDash val="solid"/>
          </a:ln>
          <a:effectLst>
            <a:outerShdw sx="100000" sy="100000" kx="0" ky="0" algn="bl" rotWithShape="0" blurRad="88900" dist="25400" dir="5400000">
              <a:srgbClr val="8895AC">
                <a:alpha val="28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6455664" y="1993392"/>
            <a:ext cx="164592" cy="164592"/>
          </a:xfrm>
          <a:prstGeom prst="ellipse">
            <a:avLst/>
          </a:prstGeom>
          <a:solidFill>
            <a:srgbClr val="D9791C"/>
          </a:solidFill>
          <a:ln/>
        </p:spPr>
      </p:sp>
      <p:sp>
        <p:nvSpPr>
          <p:cNvPr id="13" name="Text 11"/>
          <p:cNvSpPr/>
          <p:nvPr/>
        </p:nvSpPr>
        <p:spPr>
          <a:xfrm>
            <a:off x="6748272" y="1901952"/>
            <a:ext cx="4709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2A4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DB latency p95 / p99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6748272" y="2340864"/>
            <a:ext cx="4709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44546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有沒有開始翹起來 → DB 是否成為瓶頸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548640" y="3218688"/>
            <a:ext cx="5440680" cy="1298448"/>
          </a:xfrm>
          <a:prstGeom prst="roundRect">
            <a:avLst>
              <a:gd name="adj" fmla="val 6338"/>
            </a:avLst>
          </a:prstGeom>
          <a:solidFill>
            <a:srgbClr val="FFFFFF"/>
          </a:solidFill>
          <a:ln w="12700">
            <a:solidFill>
              <a:srgbClr val="D7E0EE"/>
            </a:solidFill>
            <a:prstDash val="solid"/>
          </a:ln>
          <a:effectLst>
            <a:outerShdw sx="100000" sy="100000" kx="0" ky="0" algn="bl" rotWithShape="0" blurRad="88900" dist="25400" dir="5400000">
              <a:srgbClr val="8895AC">
                <a:alpha val="28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804672" y="3474720"/>
            <a:ext cx="164592" cy="164592"/>
          </a:xfrm>
          <a:prstGeom prst="ellipse">
            <a:avLst/>
          </a:prstGeom>
          <a:solidFill>
            <a:srgbClr val="8348B8"/>
          </a:solidFill>
          <a:ln/>
        </p:spPr>
      </p:sp>
      <p:sp>
        <p:nvSpPr>
          <p:cNvPr id="17" name="Text 15"/>
          <p:cNvSpPr/>
          <p:nvPr/>
        </p:nvSpPr>
        <p:spPr>
          <a:xfrm>
            <a:off x="1097280" y="3383280"/>
            <a:ext cx="4709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2A4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realtime event-loop / fanout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1097280" y="3822192"/>
            <a:ext cx="4709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44546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是否變慢 → 是否要加 realtime 實例</a:t>
            </a:r>
            <a:endParaRPr lang="en-US" sz="1250" dirty="0"/>
          </a:p>
        </p:txBody>
      </p:sp>
      <p:sp>
        <p:nvSpPr>
          <p:cNvPr id="19" name="Shape 17"/>
          <p:cNvSpPr/>
          <p:nvPr/>
        </p:nvSpPr>
        <p:spPr>
          <a:xfrm>
            <a:off x="6199632" y="3218688"/>
            <a:ext cx="5440680" cy="1298448"/>
          </a:xfrm>
          <a:prstGeom prst="roundRect">
            <a:avLst>
              <a:gd name="adj" fmla="val 6338"/>
            </a:avLst>
          </a:prstGeom>
          <a:solidFill>
            <a:srgbClr val="FFFFFF"/>
          </a:solidFill>
          <a:ln w="12700">
            <a:solidFill>
              <a:srgbClr val="D7E0EE"/>
            </a:solidFill>
            <a:prstDash val="solid"/>
          </a:ln>
          <a:effectLst>
            <a:outerShdw sx="100000" sy="100000" kx="0" ky="0" algn="bl" rotWithShape="0" blurRad="88900" dist="25400" dir="5400000">
              <a:srgbClr val="8895AC">
                <a:alpha val="28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6455664" y="3474720"/>
            <a:ext cx="164592" cy="164592"/>
          </a:xfrm>
          <a:prstGeom prst="ellipse">
            <a:avLst/>
          </a:prstGeom>
          <a:solidFill>
            <a:srgbClr val="2E9460"/>
          </a:solidFill>
          <a:ln/>
        </p:spPr>
      </p:sp>
      <p:sp>
        <p:nvSpPr>
          <p:cNvPr id="21" name="Text 19"/>
          <p:cNvSpPr/>
          <p:nvPr/>
        </p:nvSpPr>
        <p:spPr>
          <a:xfrm>
            <a:off x="6748272" y="3383280"/>
            <a:ext cx="4709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2A4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精準定位是哪一個服務</a:t>
            </a:r>
            <a:endParaRPr lang="en-US" sz="1600" dirty="0"/>
          </a:p>
        </p:txBody>
      </p:sp>
      <p:sp>
        <p:nvSpPr>
          <p:cNvPr id="22" name="Text 20"/>
          <p:cNvSpPr/>
          <p:nvPr/>
        </p:nvSpPr>
        <p:spPr>
          <a:xfrm>
            <a:off x="6748272" y="3822192"/>
            <a:ext cx="4709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44546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只擴那一個,不用整套加機器</a:t>
            </a:r>
            <a:endParaRPr lang="en-US" sz="1250" dirty="0"/>
          </a:p>
        </p:txBody>
      </p:sp>
      <p:sp>
        <p:nvSpPr>
          <p:cNvPr id="23" name="Shape 21"/>
          <p:cNvSpPr/>
          <p:nvPr/>
        </p:nvSpPr>
        <p:spPr>
          <a:xfrm>
            <a:off x="548640" y="4937760"/>
            <a:ext cx="11091672" cy="1005840"/>
          </a:xfrm>
          <a:prstGeom prst="roundRect">
            <a:avLst>
              <a:gd name="adj" fmla="val 9091"/>
            </a:avLst>
          </a:prstGeom>
          <a:solidFill>
            <a:srgbClr val="EDF3FB"/>
          </a:solidFill>
          <a:ln w="19050">
            <a:solidFill>
              <a:srgbClr val="0E9BD6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822960" y="4937760"/>
            <a:ext cx="105156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44546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從「出事才慌張救火」  →  </a:t>
            </a:r>
            <a:pPr algn="ctr" indent="0" marL="0">
              <a:buNone/>
            </a:pPr>
            <a:r>
              <a:rPr lang="en-US" sz="1500" b="1" dirty="0">
                <a:solidFill>
                  <a:srgbClr val="0E9BD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「提前看趨勢、精準擴容、用數據決策」</a:t>
            </a:r>
            <a:pPr algn="ctr" indent="0" marL="0">
              <a:buNone/>
            </a:pPr>
            <a:r>
              <a:rPr lang="en-US" sz="1500" dirty="0">
                <a:solidFill>
                  <a:srgbClr val="44546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,大幅縮短故障定位時間(MTTR)。</a:t>
            </a:r>
            <a:endParaRPr lang="en-US" sz="1500" dirty="0"/>
          </a:p>
        </p:txBody>
      </p:sp>
      <p:sp>
        <p:nvSpPr>
          <p:cNvPr id="25" name="Shape 23"/>
          <p:cNvSpPr/>
          <p:nvPr/>
        </p:nvSpPr>
        <p:spPr>
          <a:xfrm>
            <a:off x="548640" y="6437376"/>
            <a:ext cx="11091672" cy="0"/>
          </a:xfrm>
          <a:prstGeom prst="line">
            <a:avLst/>
          </a:prstGeom>
          <a:noFill/>
          <a:ln w="12700">
            <a:solidFill>
              <a:srgbClr val="D7E0EE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548640" y="6464808"/>
            <a:ext cx="8686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E7C9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可觀測性 · IM 微服務後端 · 114-2 Cloud Native TEAM06</a:t>
            </a:r>
            <a:endParaRPr lang="en-US" sz="900" dirty="0"/>
          </a:p>
        </p:txBody>
      </p:sp>
      <p:sp>
        <p:nvSpPr>
          <p:cNvPr id="27" name="Text 25"/>
          <p:cNvSpPr/>
          <p:nvPr/>
        </p:nvSpPr>
        <p:spPr>
          <a:xfrm>
            <a:off x="11247120" y="6464808"/>
            <a:ext cx="3931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7C9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6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6F8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2E9460"/>
          </a:solidFill>
          <a:ln/>
        </p:spPr>
      </p:sp>
      <p:sp>
        <p:nvSpPr>
          <p:cNvPr id="3" name="Shape 1"/>
          <p:cNvSpPr/>
          <p:nvPr/>
        </p:nvSpPr>
        <p:spPr>
          <a:xfrm>
            <a:off x="548640" y="457200"/>
            <a:ext cx="548640" cy="548640"/>
          </a:xfrm>
          <a:prstGeom prst="ellipse">
            <a:avLst/>
          </a:prstGeom>
          <a:solidFill>
            <a:srgbClr val="2E9460"/>
          </a:solidFill>
          <a:ln/>
          <a:effectLst>
            <a:outerShdw sx="100000" sy="100000" kx="0" ky="0" algn="bl" rotWithShape="0" blurRad="88900" dist="25400" dir="5400000">
              <a:srgbClr val="8895AC">
                <a:alpha val="28000"/>
              </a:srgbClr>
            </a:outerShdw>
          </a:effectLst>
        </p:spPr>
      </p:sp>
      <p:sp>
        <p:nvSpPr>
          <p:cNvPr id="4" name="Text 2"/>
          <p:cNvSpPr/>
          <p:nvPr/>
        </p:nvSpPr>
        <p:spPr>
          <a:xfrm>
            <a:off x="1261872" y="420624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b="1" spc="300" kern="0" dirty="0">
                <a:solidFill>
                  <a:srgbClr val="2E946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運維與可靠性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1243584" y="630936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900" b="1" dirty="0">
                <a:solidFill>
                  <a:srgbClr val="1E2A4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部署與可靠性</a:t>
            </a:r>
            <a:endParaRPr lang="en-US" sz="2900" dirty="0"/>
          </a:p>
        </p:txBody>
      </p:sp>
      <p:sp>
        <p:nvSpPr>
          <p:cNvPr id="6" name="Shape 4"/>
          <p:cNvSpPr/>
          <p:nvPr/>
        </p:nvSpPr>
        <p:spPr>
          <a:xfrm>
            <a:off x="548640" y="1737360"/>
            <a:ext cx="11091672" cy="1207008"/>
          </a:xfrm>
          <a:prstGeom prst="roundRect">
            <a:avLst>
              <a:gd name="adj" fmla="val 6818"/>
            </a:avLst>
          </a:prstGeom>
          <a:solidFill>
            <a:srgbClr val="FFFFFF"/>
          </a:solidFill>
          <a:ln w="12700">
            <a:solidFill>
              <a:srgbClr val="D7E0EE"/>
            </a:solidFill>
            <a:prstDash val="solid"/>
          </a:ln>
          <a:effectLst>
            <a:outerShdw sx="100000" sy="100000" kx="0" ky="0" algn="bl" rotWithShape="0" blurRad="88900" dist="25400" dir="5400000">
              <a:srgbClr val="8895AC">
                <a:alpha val="28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548640" y="1883664"/>
            <a:ext cx="82296" cy="914400"/>
          </a:xfrm>
          <a:prstGeom prst="rect">
            <a:avLst/>
          </a:prstGeom>
          <a:solidFill>
            <a:srgbClr val="0E9BD6"/>
          </a:solidFill>
          <a:ln/>
        </p:spPr>
      </p:sp>
      <p:sp>
        <p:nvSpPr>
          <p:cNvPr id="8" name="Text 6"/>
          <p:cNvSpPr/>
          <p:nvPr/>
        </p:nvSpPr>
        <p:spPr>
          <a:xfrm>
            <a:off x="868680" y="1901952"/>
            <a:ext cx="10515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E9BD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雲端部署 + 自動 HTTPS</a:t>
            </a:r>
            <a:endParaRPr lang="en-US" sz="1700" dirty="0"/>
          </a:p>
        </p:txBody>
      </p:sp>
      <p:sp>
        <p:nvSpPr>
          <p:cNvPr id="9" name="Text 7"/>
          <p:cNvSpPr/>
          <p:nvPr/>
        </p:nvSpPr>
        <p:spPr>
          <a:xfrm>
            <a:off x="868680" y="2304288"/>
            <a:ext cx="10607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44546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DigitalOcean Droplet · docker-compose · Caddy 反向代理自動簽 Let's Encrypt 憑證,前端 / API / WebSocket 單一網域同源。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548640" y="3108960"/>
            <a:ext cx="11091672" cy="1207008"/>
          </a:xfrm>
          <a:prstGeom prst="roundRect">
            <a:avLst>
              <a:gd name="adj" fmla="val 6818"/>
            </a:avLst>
          </a:prstGeom>
          <a:solidFill>
            <a:srgbClr val="FFFFFF"/>
          </a:solidFill>
          <a:ln w="12700">
            <a:solidFill>
              <a:srgbClr val="D7E0EE"/>
            </a:solidFill>
            <a:prstDash val="solid"/>
          </a:ln>
          <a:effectLst>
            <a:outerShdw sx="100000" sy="100000" kx="0" ky="0" algn="bl" rotWithShape="0" blurRad="88900" dist="25400" dir="5400000">
              <a:srgbClr val="8895AC">
                <a:alpha val="28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548640" y="3255264"/>
            <a:ext cx="82296" cy="914400"/>
          </a:xfrm>
          <a:prstGeom prst="rect">
            <a:avLst/>
          </a:prstGeom>
          <a:solidFill>
            <a:srgbClr val="D9791C"/>
          </a:solidFill>
          <a:ln/>
        </p:spPr>
      </p:sp>
      <p:sp>
        <p:nvSpPr>
          <p:cNvPr id="12" name="Text 10"/>
          <p:cNvSpPr/>
          <p:nvPr/>
        </p:nvSpPr>
        <p:spPr>
          <a:xfrm>
            <a:off x="868680" y="3273552"/>
            <a:ext cx="10515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D9791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觀測與應用解耦</a:t>
            </a:r>
            <a:endParaRPr lang="en-US" sz="1700" dirty="0"/>
          </a:p>
        </p:txBody>
      </p:sp>
      <p:sp>
        <p:nvSpPr>
          <p:cNvPr id="13" name="Text 11"/>
          <p:cNvSpPr/>
          <p:nvPr/>
        </p:nvSpPr>
        <p:spPr>
          <a:xfrm>
            <a:off x="868680" y="3675888"/>
            <a:ext cx="10607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44546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telemetry 送到 Grafana Cloud(雲端託管)。應用就算掛了,也能事後查、團隊隨時都能打開 dashboard。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548640" y="4480560"/>
            <a:ext cx="11091672" cy="1207008"/>
          </a:xfrm>
          <a:prstGeom prst="roundRect">
            <a:avLst>
              <a:gd name="adj" fmla="val 6818"/>
            </a:avLst>
          </a:prstGeom>
          <a:solidFill>
            <a:srgbClr val="FFFFFF"/>
          </a:solidFill>
          <a:ln w="12700">
            <a:solidFill>
              <a:srgbClr val="D7E0EE"/>
            </a:solidFill>
            <a:prstDash val="solid"/>
          </a:ln>
          <a:effectLst>
            <a:outerShdw sx="100000" sy="100000" kx="0" ky="0" algn="bl" rotWithShape="0" blurRad="88900" dist="25400" dir="5400000">
              <a:srgbClr val="8895AC">
                <a:alpha val="28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548640" y="4626864"/>
            <a:ext cx="82296" cy="914400"/>
          </a:xfrm>
          <a:prstGeom prst="rect">
            <a:avLst/>
          </a:prstGeom>
          <a:solidFill>
            <a:srgbClr val="2E9460"/>
          </a:solidFill>
          <a:ln/>
        </p:spPr>
      </p:sp>
      <p:sp>
        <p:nvSpPr>
          <p:cNvPr id="16" name="Text 14"/>
          <p:cNvSpPr/>
          <p:nvPr/>
        </p:nvSpPr>
        <p:spPr>
          <a:xfrm>
            <a:off x="868680" y="4645152"/>
            <a:ext cx="10515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2E946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可水平擴展</a:t>
            </a:r>
            <a:endParaRPr lang="en-US" sz="1700" dirty="0"/>
          </a:p>
        </p:txBody>
      </p:sp>
      <p:sp>
        <p:nvSpPr>
          <p:cNvPr id="17" name="Text 15"/>
          <p:cNvSpPr/>
          <p:nvPr/>
        </p:nvSpPr>
        <p:spPr>
          <a:xfrm>
            <a:off x="868680" y="5047488"/>
            <a:ext cx="10607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44546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realtime 雙實例 + Redis 跨實例 fanout;Caddy 直接負載平衡到兩個實例,可依數據決定擴容。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548640" y="5897880"/>
            <a:ext cx="110916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i="1" dirty="0">
                <a:solidFill>
                  <a:srgbClr val="0E9BD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OpenTelemetry 標準三階段 · 五個微服務分服務標籤 · 四訊號齊全 · 從 dashboard 直接看出架構行為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548640" y="6437376"/>
            <a:ext cx="11091672" cy="0"/>
          </a:xfrm>
          <a:prstGeom prst="line">
            <a:avLst/>
          </a:prstGeom>
          <a:noFill/>
          <a:ln w="12700">
            <a:solidFill>
              <a:srgbClr val="D7E0EE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48640" y="6464808"/>
            <a:ext cx="8686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E7C9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可觀測性 · IM 微服務後端 · 114-2 Cloud Native TEAM06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11247120" y="6464808"/>
            <a:ext cx="3931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7C9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7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7</Slides>
  <Notes>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可觀測性系統</dc:title>
  <dc:subject>PptxGenJS Presentation</dc:subject>
  <dc:creator>TEAM06</dc:creator>
  <cp:lastModifiedBy>TEAM06</cp:lastModifiedBy>
  <cp:revision>1</cp:revision>
  <dcterms:created xsi:type="dcterms:W3CDTF">2026-06-04T06:03:33Z</dcterms:created>
  <dcterms:modified xsi:type="dcterms:W3CDTF">2026-06-04T06:03:33Z</dcterms:modified>
</cp:coreProperties>
</file>