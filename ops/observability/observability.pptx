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 queries/sec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1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message-writer</c:v>
                  </c:pt>
                  <c:pt idx="1">
                    <c:v>realtime</c:v>
                  </c:pt>
                  <c:pt idx="2">
                    <c:v>chat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</c:v>
                </c:pt>
                <c:pt idx="1">
                  <c:v>4.18</c:v>
                </c:pt>
                <c:pt idx="2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AF1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CC8D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3A1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4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114-2 CLOUD NATIVE · TEAM06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53035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可觀測性系統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 微服務後端 · OpenTelemetry → Grafana Cloud · Instrument → Collect → Visualize</a:t>
            </a:r>
            <a:endParaRPr lang="en-US" sz="1400" dirty="0"/>
          </a:p>
        </p:txBody>
      </p:sp>
      <p:pic>
        <p:nvPicPr>
          <p:cNvPr id="5" name="Image 0" descr="C:/dev/IM_BE/backend-sketch/ops/observability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627632"/>
            <a:ext cx="10607040" cy="5785658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64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可觀測性 · IM 微服務後端 · 114-2 Cloud Native TEAM06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6480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INSTRUMENT　埋點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43584" y="6309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OpenTelemetry SDK · 自動 + 手動埋點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243584" y="12252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一份共用 instrumentation,用 node --import 預載進「每個」服務 —— 業務程式碼幾乎不用改。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00784"/>
            <a:ext cx="5532120" cy="1517904"/>
          </a:xfrm>
          <a:prstGeom prst="roundRect">
            <a:avLst>
              <a:gd name="adj" fmla="val 5422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9202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014984" y="182880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自動埋點　Auto-instrumentation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24942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server / client — 每個請求自動產生 span + http 指標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Node runtime — event loop 延遲、GC、heap 記憶體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5532120" cy="2798064"/>
          </a:xfrm>
          <a:prstGeom prst="roundRect">
            <a:avLst>
              <a:gd name="adj" fmla="val 2941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56616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" y="347472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手動埋點　自訂業務指標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3995928"/>
            <a:ext cx="109728" cy="109728"/>
          </a:xfrm>
          <a:prstGeom prst="ellipse">
            <a:avLst/>
          </a:prstGeom>
          <a:solidFill>
            <a:srgbClr val="4A86D4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931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im_db_query_duration_ms  </a:t>
            </a:r>
            <a:pPr algn="l" indent="0" marL="0">
              <a:buNone/>
            </a:pPr>
            <a:r>
              <a:rPr lang="en-US" sz="115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Histogram · 每筆 DB 查詢耗時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4416552"/>
            <a:ext cx="109728" cy="109728"/>
          </a:xfrm>
          <a:prstGeom prst="ellipse">
            <a:avLst/>
          </a:prstGeom>
          <a:solidFill>
            <a:srgbClr val="36A06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3525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im_messages_sent_total  </a:t>
            </a:r>
            <a:pPr algn="l" indent="0" marL="0">
              <a:buNone/>
            </a:pPr>
            <a:r>
              <a:rPr lang="en-US" sz="115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Counter · 成功送出訊息數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4837176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7731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im_ws_active_connections  </a:t>
            </a:r>
            <a:pPr algn="l" indent="0" marL="0">
              <a:buNone/>
            </a:pPr>
            <a:r>
              <a:rPr lang="en-US" sz="115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Gauge · 當前 WebSocket 連線數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" y="5257800"/>
            <a:ext cx="109728" cy="109728"/>
          </a:xfrm>
          <a:prstGeom prst="ellipse">
            <a:avLst/>
          </a:prstGeom>
          <a:solidFill>
            <a:srgbClr val="E8923E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1937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im_message_fanout_duration_ms  </a:t>
            </a:r>
            <a:pPr algn="l" indent="0" marL="0">
              <a:buNone/>
            </a:pPr>
            <a:r>
              <a:rPr lang="en-US" sz="115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Histogram · 訊息廣播到房間成員耗時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5678424"/>
            <a:ext cx="109728" cy="109728"/>
          </a:xfrm>
          <a:prstGeom prst="ellipse">
            <a:avLst/>
          </a:prstGeom>
          <a:solidFill>
            <a:srgbClr val="9A5BD0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56144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im_ws_errors_total  </a:t>
            </a:r>
            <a:pPr algn="l" indent="0" marL="0">
              <a:buNone/>
            </a:pPr>
            <a:r>
              <a:rPr lang="en-US" sz="115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Counter · WS 錯誤數(依原因)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1700784"/>
            <a:ext cx="5376672" cy="1993392"/>
          </a:xfrm>
          <a:prstGeom prst="roundRect">
            <a:avLst>
              <a:gd name="adj" fmla="val 4128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19202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6729984" y="1828800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四訊號　Four Signals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92240" y="2286000"/>
            <a:ext cx="2395728" cy="548640"/>
          </a:xfrm>
          <a:prstGeom prst="roundRect">
            <a:avLst>
              <a:gd name="adj" fmla="val 10000"/>
            </a:avLst>
          </a:prstGeom>
          <a:solidFill>
            <a:srgbClr val="232E44"/>
          </a:solidFill>
          <a:ln w="19050">
            <a:solidFill>
              <a:srgbClr val="E892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38544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Traces  </a:t>
            </a:r>
            <a:pPr indent="0" marL="0">
              <a:buNone/>
            </a:pPr>
            <a:r>
              <a:rPr lang="en-US" sz="11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Tempo · 跨服務追蹤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070848" y="2286000"/>
            <a:ext cx="2395728" cy="548640"/>
          </a:xfrm>
          <a:prstGeom prst="roundRect">
            <a:avLst>
              <a:gd name="adj" fmla="val 10000"/>
            </a:avLst>
          </a:prstGeom>
          <a:solidFill>
            <a:srgbClr val="232E44"/>
          </a:solidFill>
          <a:ln w="19050">
            <a:solidFill>
              <a:srgbClr val="4A8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17152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8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Metrics  </a:t>
            </a:r>
            <a:pPr indent="0" marL="0">
              <a:buNone/>
            </a:pPr>
            <a:r>
              <a:rPr lang="en-US" sz="11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Mimir · 指標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0" y="2962656"/>
            <a:ext cx="2395728" cy="548640"/>
          </a:xfrm>
          <a:prstGeom prst="roundRect">
            <a:avLst>
              <a:gd name="adj" fmla="val 10000"/>
            </a:avLst>
          </a:prstGeom>
          <a:solidFill>
            <a:srgbClr val="232E44"/>
          </a:solidFill>
          <a:ln w="19050">
            <a:solidFill>
              <a:srgbClr val="36A0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8544" y="29626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A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Logs  </a:t>
            </a:r>
            <a:pPr indent="0" marL="0">
              <a:buNone/>
            </a:pPr>
            <a:r>
              <a:rPr lang="en-US" sz="11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Loki · 帶 trace_id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70848" y="2962656"/>
            <a:ext cx="2395728" cy="548640"/>
          </a:xfrm>
          <a:prstGeom prst="roundRect">
            <a:avLst>
              <a:gd name="adj" fmla="val 10000"/>
            </a:avLst>
          </a:prstGeom>
          <a:solidFill>
            <a:srgbClr val="232E44"/>
          </a:solidFill>
          <a:ln w="19050">
            <a:solidFill>
              <a:srgbClr val="9A5B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17152" y="29626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Profiles  </a:t>
            </a:r>
            <a:pPr indent="0" marL="0">
              <a:buNone/>
            </a:pPr>
            <a:r>
              <a:rPr lang="en-US" sz="11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Pyroscope · wall 剖析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3840480"/>
            <a:ext cx="5376672" cy="2304288"/>
          </a:xfrm>
          <a:prstGeom prst="roundRect">
            <a:avLst>
              <a:gd name="adj" fmla="val 3571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0" y="4059936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6729984" y="396849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工程亮點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83680" y="4425696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分服務標籤 — 每服務 OTEL_SERVICE_NAME,可在 dashboard 分服務下鑽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 — 自訂 SpanProcessor 在送出前把 JWT token 脫敏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可一鍵關閉 — OBSERVABILITY_ENABLED 總開關,關閉零負擔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64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可觀測性 · IM 微服務後端 · 114-2 Cloud Native TEAM06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46480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A06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36A06A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6A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COLLECT　收集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43584" y="6309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Direct 模式 — SDK 直送,免自架 Collector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41732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個微服務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OTel SDK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3108960" cy="841248"/>
          </a:xfrm>
          <a:prstGeom prst="roundRect">
            <a:avLst>
              <a:gd name="adj" fmla="val 8696"/>
            </a:avLst>
          </a:prstGeom>
          <a:solidFill>
            <a:srgbClr val="36A06A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41732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 Cloud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OTLP Gateway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3716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OTLP / HTTP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(protobuf)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0" y="1837944"/>
            <a:ext cx="9601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955280" y="1417320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 託管,扮演 Collector 角色 — 我們不自己跑 Collector。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871216"/>
            <a:ext cx="146304" cy="146304"/>
          </a:xfrm>
          <a:prstGeom prst="ellipse">
            <a:avLst/>
          </a:prstGeom>
          <a:solidFill>
            <a:srgbClr val="36A06A"/>
          </a:solidFill>
          <a:ln/>
        </p:spPr>
      </p:sp>
      <p:sp>
        <p:nvSpPr>
          <p:cNvPr id="16" name="Text 14"/>
          <p:cNvSpPr/>
          <p:nvPr/>
        </p:nvSpPr>
        <p:spPr>
          <a:xfrm>
            <a:off x="1014984" y="2779776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傳輸設定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協定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03120" y="3291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OTLP over HTTP（http/protobuf）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38221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03120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 Cloud OTLP Gateway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43525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03120" y="4352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Basic auth（instance ID + token）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68680" y="48828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103120" y="48828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Batch span + 每 60s 推送指標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" y="54132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03120" y="5413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 Pyroscope 專屬 ingest 端點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80760" y="2651760"/>
            <a:ext cx="5559552" cy="1627632"/>
          </a:xfrm>
          <a:prstGeom prst="roundRect">
            <a:avLst>
              <a:gd name="adj" fmla="val 5056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871216"/>
            <a:ext cx="146304" cy="146304"/>
          </a:xfrm>
          <a:prstGeom prst="ellipse">
            <a:avLst/>
          </a:prstGeom>
          <a:solidFill>
            <a:srgbClr val="36A06A"/>
          </a:solidFill>
          <a:ln/>
        </p:spPr>
      </p:sp>
      <p:sp>
        <p:nvSpPr>
          <p:cNvPr id="29" name="Text 27"/>
          <p:cNvSpPr/>
          <p:nvPr/>
        </p:nvSpPr>
        <p:spPr>
          <a:xfrm>
            <a:off x="6547104" y="2779776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為什麼選 Direct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少一個要自己維運的元件,架構更簡單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呼應「one SDK works with any backend」— 換後端不用改埋點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80760" y="4425696"/>
            <a:ext cx="5559552" cy="1609344"/>
          </a:xfrm>
          <a:prstGeom prst="roundRect">
            <a:avLst>
              <a:gd name="adj" fmla="val 5114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4645152"/>
            <a:ext cx="146304" cy="146304"/>
          </a:xfrm>
          <a:prstGeom prst="ellipse">
            <a:avLst/>
          </a:prstGeom>
          <a:solidFill>
            <a:srgbClr val="E8923E"/>
          </a:solidFill>
          <a:ln/>
        </p:spPr>
      </p:sp>
      <p:sp>
        <p:nvSpPr>
          <p:cNvPr id="33" name="Text 31"/>
          <p:cNvSpPr/>
          <p:nvPr/>
        </p:nvSpPr>
        <p:spPr>
          <a:xfrm>
            <a:off x="6547104" y="4553712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代價(目前用不到)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0" y="497433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少了 Collector 的本地緩衝 / 轉換彈性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需要時可無痛在中間加上 Collector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64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可觀測性 · IM 微服務後端 · 114-2 Cloud Native TEAM06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6480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A5BD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9A5BD0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6187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9A5B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VISUALIZE　視覺化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43584" y="6309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 Cloud — 四訊號各有後端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243584" y="12252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全部匯入 Grafana Cloud,加一張自製 dashboard,分服務下鑽。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83080"/>
            <a:ext cx="2670048" cy="566928"/>
          </a:xfrm>
          <a:prstGeom prst="roundRect">
            <a:avLst>
              <a:gd name="adj" fmla="val 14516"/>
            </a:avLst>
          </a:prstGeom>
          <a:solidFill>
            <a:srgbClr val="E8923E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75688"/>
            <a:ext cx="2670048" cy="274320"/>
          </a:xfrm>
          <a:prstGeom prst="rect">
            <a:avLst/>
          </a:prstGeom>
          <a:solidFill>
            <a:srgbClr val="E8923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Tempo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4963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807208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跨服務請求時間軸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瓶頸落在哪一段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01568" y="178308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01568" y="1783080"/>
            <a:ext cx="2670048" cy="566928"/>
          </a:xfrm>
          <a:prstGeom prst="roundRect">
            <a:avLst>
              <a:gd name="adj" fmla="val 14516"/>
            </a:avLst>
          </a:prstGeom>
          <a:solidFill>
            <a:srgbClr val="4A8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3401568" y="2075688"/>
            <a:ext cx="2670048" cy="274320"/>
          </a:xfrm>
          <a:prstGeom prst="rect">
            <a:avLst/>
          </a:prstGeom>
          <a:solidFill>
            <a:srgbClr val="4A8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584448" y="178308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Mimir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584448" y="24963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8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Metrics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84448" y="2807208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吞吐 / 延遲 / 連線數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資源使用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4496" y="178308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54496" y="1783080"/>
            <a:ext cx="2670048" cy="566928"/>
          </a:xfrm>
          <a:prstGeom prst="roundRect">
            <a:avLst>
              <a:gd name="adj" fmla="val 14516"/>
            </a:avLst>
          </a:prstGeom>
          <a:solidFill>
            <a:srgbClr val="36A06A"/>
          </a:solidFill>
          <a:ln/>
        </p:spPr>
      </p:sp>
      <p:sp>
        <p:nvSpPr>
          <p:cNvPr id="22" name="Shape 20"/>
          <p:cNvSpPr/>
          <p:nvPr/>
        </p:nvSpPr>
        <p:spPr>
          <a:xfrm>
            <a:off x="6254496" y="2075688"/>
            <a:ext cx="2670048" cy="274320"/>
          </a:xfrm>
          <a:prstGeom prst="rect">
            <a:avLst/>
          </a:prstGeom>
          <a:solidFill>
            <a:srgbClr val="36A06A"/>
          </a:solidFill>
          <a:ln/>
        </p:spPr>
      </p:sp>
      <p:sp>
        <p:nvSpPr>
          <p:cNvPr id="23" name="Text 21"/>
          <p:cNvSpPr/>
          <p:nvPr/>
        </p:nvSpPr>
        <p:spPr>
          <a:xfrm>
            <a:off x="6437376" y="178308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Loki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37376" y="24963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A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37376" y="2807208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結構化日誌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trace_id 對齊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07424" y="1783080"/>
            <a:ext cx="2670048" cy="2286000"/>
          </a:xfrm>
          <a:prstGeom prst="roundRect">
            <a:avLst>
              <a:gd name="adj" fmla="val 3600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07424" y="1783080"/>
            <a:ext cx="2670048" cy="566928"/>
          </a:xfrm>
          <a:prstGeom prst="roundRect">
            <a:avLst>
              <a:gd name="adj" fmla="val 14516"/>
            </a:avLst>
          </a:prstGeom>
          <a:solidFill>
            <a:srgbClr val="9A5BD0"/>
          </a:solidFill>
          <a:ln/>
        </p:spPr>
      </p:sp>
      <p:sp>
        <p:nvSpPr>
          <p:cNvPr id="28" name="Shape 26"/>
          <p:cNvSpPr/>
          <p:nvPr/>
        </p:nvSpPr>
        <p:spPr>
          <a:xfrm>
            <a:off x="9107424" y="2075688"/>
            <a:ext cx="2670048" cy="274320"/>
          </a:xfrm>
          <a:prstGeom prst="rect">
            <a:avLst/>
          </a:prstGeom>
          <a:solidFill>
            <a:srgbClr val="9A5BD0"/>
          </a:solidFill>
          <a:ln/>
        </p:spPr>
      </p:sp>
      <p:sp>
        <p:nvSpPr>
          <p:cNvPr id="29" name="Text 27"/>
          <p:cNvSpPr/>
          <p:nvPr/>
        </p:nvSpPr>
        <p:spPr>
          <a:xfrm>
            <a:off x="9290304" y="178308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Pyroscope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290304" y="249631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B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90304" y="2807208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CPU / wall 火焰圖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定位熱點函式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315968"/>
            <a:ext cx="11091672" cy="1700784"/>
          </a:xfrm>
          <a:prstGeom prst="roundRect">
            <a:avLst>
              <a:gd name="adj" fmla="val 4839"/>
            </a:avLst>
          </a:prstGeom>
          <a:solidFill>
            <a:srgbClr val="232E44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4553712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1014984" y="4462272"/>
            <a:ext cx="10369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自製 Dashboard　im-dashboard.json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68680" y="4901184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分服務下鑽($service 變數) · DB / HTTP / WebSocket 三大區 · traces ↔ logs ↔ metrics 互相關聯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永遠在線 · 免費方案 · 團隊多人共用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64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可觀測性 · IM 微服務後端 · 114-2 Cloud Native TEAM06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6480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6187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數據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43584" y="6309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實際數據(壓測灌流量)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1907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</a:t>
            </a:r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req/s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寫入尖峰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171907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pPr algn="ctr" indent="0" marL="0">
              <a:buNone/>
            </a:pPr>
            <a:r>
              <a:rPr lang="en-US" sz="1600" b="1" dirty="0">
                <a:solidFill>
                  <a:srgbClr val="E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ms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2788920" y="26334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查詢 p95 延遲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2057400" cy="1737360"/>
          </a:xfrm>
          <a:prstGeom prst="roundRect">
            <a:avLst>
              <a:gd name="adj" fmla="val 4737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71907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6A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pPr algn="ctr" indent="0" marL="0">
              <a:buNone/>
            </a:pPr>
            <a:r>
              <a:rPr lang="en-US" sz="1600" b="1" dirty="0">
                <a:solidFill>
                  <a:srgbClr val="36A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029200" y="26334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 同時連線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554480"/>
            <a:ext cx="4599432" cy="4297680"/>
          </a:xfrm>
          <a:prstGeom prst="roundRect">
            <a:avLst>
              <a:gd name="adj" fmla="val 1915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9480" y="1773936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7507224" y="1682496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queries / sec(分服務)</a:t>
            </a:r>
            <a:endParaRPr lang="en-US" sz="15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178040" y="2194560"/>
          <a:ext cx="4343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548640" y="3520440"/>
            <a:ext cx="6263640" cy="2331720"/>
          </a:xfrm>
          <a:prstGeom prst="roundRect">
            <a:avLst>
              <a:gd name="adj" fmla="val 3529"/>
            </a:avLst>
          </a:prstGeom>
          <a:solidFill>
            <a:srgbClr val="232E44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" y="3758184"/>
            <a:ext cx="146304" cy="146304"/>
          </a:xfrm>
          <a:prstGeom prst="ellipse">
            <a:avLst/>
          </a:prstGeom>
          <a:solidFill>
            <a:srgbClr val="E8923E"/>
          </a:solidFill>
          <a:ln/>
        </p:spPr>
      </p:sp>
      <p:sp>
        <p:nvSpPr>
          <p:cNvPr id="21" name="Text 18"/>
          <p:cNvSpPr/>
          <p:nvPr/>
        </p:nvSpPr>
        <p:spPr>
          <a:xfrm>
            <a:off x="1014984" y="3666744"/>
            <a:ext cx="5614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這張圖說了什麼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8680" y="41148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寫入幾乎全集中在 message-writer(117 req/s)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驗證非同步寫入架構:訊息進 NATS 佇列,由 writer 批次落地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p50 ≈ 2ms / p95 ≈ 23ms — 該負載下 DB 仍健康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464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可觀測性 · IM 微服務後端 · 114-2 Cloud Native TEAM06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47120" y="646480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923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E8923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6187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為什麼值得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43584" y="6309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大流量時看得到什麼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243584" y="12252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當每秒訊息往「上千」爬時,這張 dashboard 即時告訴我們: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93392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0195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message-writer 的 DB 寫入率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3408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會不會先頂到天花板 → 是否要加 writer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173736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5664" y="1993392"/>
            <a:ext cx="164592" cy="164592"/>
          </a:xfrm>
          <a:prstGeom prst="ellipse">
            <a:avLst/>
          </a:prstGeom>
          <a:solidFill>
            <a:srgbClr val="E8923E"/>
          </a:solidFill>
          <a:ln/>
        </p:spPr>
      </p:sp>
      <p:sp>
        <p:nvSpPr>
          <p:cNvPr id="13" name="Text 11"/>
          <p:cNvSpPr/>
          <p:nvPr/>
        </p:nvSpPr>
        <p:spPr>
          <a:xfrm>
            <a:off x="6748272" y="190195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DB latency p95 / p99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48272" y="23408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有沒有開始翹起來 → DB 是否成為瓶頸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18688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474720"/>
            <a:ext cx="164592" cy="164592"/>
          </a:xfrm>
          <a:prstGeom prst="ellipse">
            <a:avLst/>
          </a:prstGeom>
          <a:solidFill>
            <a:srgbClr val="9A5BD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3832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realtime event-loop / fanout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8221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是否變慢 → 是否要加 realtime 實例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9632" y="3218688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5664" y="3474720"/>
            <a:ext cx="164592" cy="164592"/>
          </a:xfrm>
          <a:prstGeom prst="ellipse">
            <a:avLst/>
          </a:prstGeom>
          <a:solidFill>
            <a:srgbClr val="36A06A"/>
          </a:solidFill>
          <a:ln/>
        </p:spPr>
      </p:sp>
      <p:sp>
        <p:nvSpPr>
          <p:cNvPr id="21" name="Text 19"/>
          <p:cNvSpPr/>
          <p:nvPr/>
        </p:nvSpPr>
        <p:spPr>
          <a:xfrm>
            <a:off x="6748272" y="33832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精準定位是哪一個服務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48272" y="382219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只擴那一個,不用整套加機器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232E44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從「出事才慌張救火」  →  </a:t>
            </a:r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「提前看趨勢、精準擴容、用數據決策」</a:t>
            </a:r>
            <a:pPr algn="ctr" indent="0" marL="0">
              <a:buNone/>
            </a:pPr>
            <a:r>
              <a:rPr lang="en-US" sz="15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,大幅縮短故障定位時間(MTTR)。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64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可觀測性 · IM 微服務後端 · 114-2 Cloud Native TEAM06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46480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6A06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36A06A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61872" y="4206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36A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運維與可靠性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43584" y="6309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部署與可靠性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1672" cy="1207008"/>
          </a:xfrm>
          <a:prstGeom prst="roundRect">
            <a:avLst>
              <a:gd name="adj" fmla="val 6818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83664"/>
            <a:ext cx="82296" cy="914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0195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雲端部署 + 自動 HTTPS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30428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DigitalOcean Droplet · docker-compose · Caddy 反向代理自動簽 Let's Encrypt 憑證,前端 / API / WebSocket 單一網域同源。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91672" cy="1207008"/>
          </a:xfrm>
          <a:prstGeom prst="roundRect">
            <a:avLst>
              <a:gd name="adj" fmla="val 6818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255264"/>
            <a:ext cx="82296" cy="914400"/>
          </a:xfrm>
          <a:prstGeom prst="rect">
            <a:avLst/>
          </a:prstGeom>
          <a:solidFill>
            <a:srgbClr val="E8923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7355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觀測與應用解耦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367588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telemetry 送到 Grafana Cloud(雲端託管)。應用就算掛了,也能事後查、團隊隨時都能打開 dashboard。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91672" cy="1207008"/>
          </a:xfrm>
          <a:prstGeom prst="roundRect">
            <a:avLst>
              <a:gd name="adj" fmla="val 6818"/>
            </a:avLst>
          </a:prstGeom>
          <a:solidFill>
            <a:srgbClr val="1B2436"/>
          </a:solidFill>
          <a:ln w="12700">
            <a:solidFill>
              <a:srgbClr val="3341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626864"/>
            <a:ext cx="82296" cy="914400"/>
          </a:xfrm>
          <a:prstGeom prst="rect">
            <a:avLst/>
          </a:prstGeom>
          <a:solidFill>
            <a:srgbClr val="36A06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4515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A0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可水平擴展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504748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C8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realtime 雙實例 + Redis 跨實例 fanout;Caddy 直接負載平衡到兩個實例,可依數據決定擴容。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OpenTelemetry 標準三階段 · 五個微服務分服務標籤 · 四訊號齊全 · 從 dashboard 直接看出架構行為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64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可觀測性 · IM 微服務後端 · 114-2 Cloud Native TEAM06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6480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可觀測性系統</dc:title>
  <dc:subject>PptxGenJS Presentation</dc:subject>
  <dc:creator>TEAM06</dc:creator>
  <cp:lastModifiedBy>TEAM06</cp:lastModifiedBy>
  <cp:revision>1</cp:revision>
  <dcterms:created xsi:type="dcterms:W3CDTF">2026-06-04T05:54:33Z</dcterms:created>
  <dcterms:modified xsi:type="dcterms:W3CDTF">2026-06-04T05:54:33Z</dcterms:modified>
</cp:coreProperties>
</file>